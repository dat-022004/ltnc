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5F80B0-093C-4B97-BA68-E0D2427618E1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10ACC4-D9B3-44BF-9553-D7C6AB7A4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18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10ACC4-D9B3-44BF-9553-D7C6AB7A4BA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97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550998" y="-1005840"/>
            <a:ext cx="5486400" cy="2743200"/>
          </a:xfrm>
          <a:prstGeom prst="roundRect">
            <a:avLst/>
          </a:prstGeom>
          <a:solidFill>
            <a:srgbClr val="283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75320" y="4983480"/>
            <a:ext cx="5029200" cy="2743200"/>
          </a:xfrm>
          <a:prstGeom prst="roundRect">
            <a:avLst/>
          </a:prstGeom>
          <a:solidFill>
            <a:srgbClr val="283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DEFB"/>
                </a:solidFill>
                <a:latin typeface="Segoe UI"/>
              </a:defRPr>
            </a:pPr>
            <a:r>
              <a:t>TRƯỜNG ĐẠI HỌC HÙNG VƯƠNG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F00"/>
                </a:solidFill>
                <a:latin typeface="Segoe UI"/>
              </a:defRPr>
            </a:pPr>
            <a:r>
              <a:t>TIỂU LUẬN MÔN HỌC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KỸ THUẬT LẬP TRÌNH NÂNG CAO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31720"/>
            <a:ext cx="3657600" cy="54864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E3F2FD"/>
                </a:solidFill>
                <a:latin typeface="Segoe UI"/>
              </a:defRPr>
            </a:pPr>
            <a:r>
              <a:t>Xây dựng phần mềm Quản lý Sinh viên</a:t>
            </a:r>
            <a:br/>
            <a:r>
              <a:t>sử dụng cấu trúc Mảng động và Giao diện đồ họa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5486400" cy="1087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800"/>
              </a:spcAft>
            </a:pPr>
            <a:r>
              <a:rPr sz="2000" b="1" dirty="0">
                <a:solidFill>
                  <a:srgbClr val="FF6F00"/>
                </a:solidFill>
                <a:latin typeface="Segoe UI"/>
              </a:rPr>
              <a:t>GVHD:  </a:t>
            </a:r>
            <a:r>
              <a:rPr lang="vi-VN" sz="2000" b="0" dirty="0">
                <a:solidFill>
                  <a:srgbClr val="FFFFFF"/>
                </a:solidFill>
                <a:latin typeface="Segoe UI"/>
              </a:rPr>
              <a:t>Ts</a:t>
            </a:r>
            <a:r>
              <a:rPr sz="2000" b="0" dirty="0">
                <a:solidFill>
                  <a:srgbClr val="FFFFFF"/>
                </a:solidFill>
                <a:latin typeface="Segoe UI"/>
              </a:rPr>
              <a:t>. Nghiêm Văn </a:t>
            </a:r>
            <a:r>
              <a:rPr sz="2000" b="0" dirty="0" err="1">
                <a:solidFill>
                  <a:srgbClr val="FFFFFF"/>
                </a:solidFill>
                <a:latin typeface="Segoe UI"/>
              </a:rPr>
              <a:t>Tính</a:t>
            </a:r>
            <a:endParaRPr sz="2000" b="0" dirty="0">
              <a:solidFill>
                <a:srgbClr val="FFFFFF"/>
              </a:solidFill>
              <a:latin typeface="Segoe UI"/>
            </a:endParaRPr>
          </a:p>
          <a:p>
            <a:pPr>
              <a:spcAft>
                <a:spcPts val="800"/>
              </a:spcAft>
            </a:pPr>
            <a:r>
              <a:rPr sz="2000" b="1" dirty="0">
                <a:solidFill>
                  <a:srgbClr val="FF6F00"/>
                </a:solidFill>
                <a:latin typeface="Segoe UI"/>
              </a:rPr>
              <a:t>SVTH:  </a:t>
            </a:r>
            <a:r>
              <a:rPr sz="2000" b="0" dirty="0">
                <a:solidFill>
                  <a:srgbClr val="FFFFFF"/>
                </a:solidFill>
                <a:latin typeface="Segoe UI"/>
              </a:rPr>
              <a:t>Đặng </a:t>
            </a:r>
            <a:r>
              <a:rPr sz="2000" b="0" dirty="0" err="1">
                <a:solidFill>
                  <a:srgbClr val="FFFFFF"/>
                </a:solidFill>
                <a:latin typeface="Segoe UI"/>
              </a:rPr>
              <a:t>Đình</a:t>
            </a:r>
            <a:r>
              <a:rPr sz="2000" b="0" dirty="0">
                <a:solidFill>
                  <a:srgbClr val="FFFFFF"/>
                </a:solidFill>
                <a:latin typeface="Segoe UI"/>
              </a:rPr>
              <a:t> Đạt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126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0CAF9"/>
                </a:solidFill>
                <a:latin typeface="Segoe UI"/>
              </a:defRPr>
            </a:pPr>
            <a:r>
              <a:t>Năm học 2025 - 2026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📋  MỤC LỤC THUYẾT TRÌNH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3533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12121"/>
                </a:solidFill>
                <a:latin typeface="Segoe UI"/>
              </a:defRPr>
            </a:pPr>
            <a:r>
              <a:t>Tổng quan đề tài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38988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Giới thiệu bài toán và phạm vi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874520"/>
            <a:ext cx="411480" cy="411480"/>
          </a:xfrm>
          <a:prstGeom prst="ellipse">
            <a:avLst/>
          </a:prstGeom>
          <a:solidFill>
            <a:srgbClr val="304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12121"/>
                </a:solidFill>
                <a:latin typeface="Segoe UI"/>
              </a:defRPr>
            </a:pPr>
            <a:r>
              <a:t>Kiến trúc hệ thống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89280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Mô hình MVC, cấu trúc module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377440"/>
            <a:ext cx="411480" cy="41148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359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12121"/>
                </a:solidFill>
                <a:latin typeface="Segoe UI"/>
              </a:defRPr>
            </a:pPr>
            <a:r>
              <a:t>Cấu trúc dữ liệu Mảng động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39572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Nguyên lý, Doubling Strategy, Amortized Analysis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880360"/>
            <a:ext cx="411480" cy="411480"/>
          </a:xfrm>
          <a:prstGeom prst="ellipse">
            <a:avLst/>
          </a:prstGeom>
          <a:solidFill>
            <a:srgbClr val="304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8620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12121"/>
                </a:solidFill>
                <a:latin typeface="Segoe UI"/>
              </a:defRPr>
            </a:pPr>
            <a:r>
              <a:t>Thuật toán Thêm / Xóa phần tử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89864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Thêm cuối O(1)*, Xóa O(n) với dịch chuyển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383280"/>
            <a:ext cx="411480" cy="41148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3649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12121"/>
                </a:solidFill>
                <a:latin typeface="Segoe UI"/>
              </a:defRPr>
            </a:pPr>
            <a:r>
              <a:t>Thuật toán Tìm kiếm tuyến tính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40156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Linear Search trên nhiều trường, O(n)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3886200"/>
            <a:ext cx="411480" cy="411480"/>
          </a:xfrm>
          <a:prstGeom prst="ellipse">
            <a:avLst/>
          </a:prstGeom>
          <a:solidFill>
            <a:srgbClr val="304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8679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12121"/>
                </a:solidFill>
                <a:latin typeface="Segoe UI"/>
              </a:defRPr>
            </a:pPr>
            <a:r>
              <a:t>Thuật toán Sắp xếp (TimSort)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90448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Hybrid Merge Sort + Insertion Sort, O(n log n)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4389120"/>
            <a:ext cx="411480" cy="41148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3708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12121"/>
                </a:solidFill>
                <a:latin typeface="Segoe UI"/>
              </a:defRPr>
            </a:pPr>
            <a:r>
              <a:t>Thuật toán Lọc &amp; Thống kê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40740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Filter, Aggregate, Set-based deduplication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892040"/>
            <a:ext cx="411480" cy="411480"/>
          </a:xfrm>
          <a:prstGeom prst="ellipse">
            <a:avLst/>
          </a:prstGeom>
          <a:solidFill>
            <a:srgbClr val="304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8737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12121"/>
                </a:solidFill>
                <a:latin typeface="Segoe UI"/>
              </a:defRPr>
            </a:pPr>
            <a:r>
              <a:t>Thuật toán Phân trang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91032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Slice-based pagination, O(k)</a:t>
            </a:r>
          </a:p>
        </p:txBody>
      </p:sp>
      <p:sp>
        <p:nvSpPr>
          <p:cNvPr id="29" name="Oval 28"/>
          <p:cNvSpPr/>
          <p:nvPr/>
        </p:nvSpPr>
        <p:spPr>
          <a:xfrm>
            <a:off x="731520" y="5394960"/>
            <a:ext cx="411480" cy="41148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3766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12121"/>
                </a:solidFill>
                <a:latin typeface="Segoe UI"/>
              </a:defRPr>
            </a:pPr>
            <a:r>
              <a:t>Bảng tổng hợp độ phức tạp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541324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So sánh tất cả thuật toán</a:t>
            </a:r>
          </a:p>
        </p:txBody>
      </p:sp>
      <p:sp>
        <p:nvSpPr>
          <p:cNvPr id="32" name="Oval 31"/>
          <p:cNvSpPr/>
          <p:nvPr/>
        </p:nvSpPr>
        <p:spPr>
          <a:xfrm>
            <a:off x="731520" y="5897880"/>
            <a:ext cx="411480" cy="411480"/>
          </a:xfrm>
          <a:prstGeom prst="ellipse">
            <a:avLst/>
          </a:prstGeom>
          <a:solidFill>
            <a:srgbClr val="304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5879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12121"/>
                </a:solidFill>
                <a:latin typeface="Segoe UI"/>
              </a:defRPr>
            </a:pPr>
            <a:r>
              <a:t>Kết luận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591616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Đánh giá và hướng phát triển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01. TỔNG QUAN ĐỀ TÀI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49C7"/>
                </a:solidFill>
                <a:latin typeface="Segoe UI"/>
              </a:defRPr>
            </a:pPr>
            <a:r>
              <a:t>🎯 Mục tiêu đề tài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2286000" cy="36576"/>
          </a:xfrm>
          <a:prstGeom prst="rect">
            <a:avLst/>
          </a:prstGeom>
          <a:solidFill>
            <a:srgbClr val="304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303520" cy="237744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5303520" cy="4572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89280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37E"/>
                </a:solidFill>
                <a:latin typeface="Segoe UI"/>
              </a:defRPr>
            </a:pPr>
            <a:r>
              <a:t>Yêu cầu bài toán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Segoe UI"/>
              </a:defRPr>
            </a:pPr>
            <a:r>
              <a:t>• Xây dựng phần mềm quản lý sinh viên hoàn chỉnh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Segoe UI"/>
              </a:defRPr>
            </a:pPr>
            <a:r>
              <a:t>• Sử dụng cấu trúc dữ liệu Mảng động (Dynamic Array)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Segoe UI"/>
              </a:defRPr>
            </a:pPr>
            <a:r>
              <a:t>• Giao diện đồ họa web thân thiện người dùng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Segoe UI"/>
              </a:defRPr>
            </a:pPr>
            <a:r>
              <a:t>• Thực hiện đầy đủ CRUD: Thêm, Đọc, Sửa, Xóa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Segoe UI"/>
              </a:defRPr>
            </a:pPr>
            <a:r>
              <a:t>• Phân tích thuật toán và đánh giá độ phức tạp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83080"/>
            <a:ext cx="5303520" cy="237744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783080"/>
            <a:ext cx="5303520" cy="4572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89280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95C"/>
                </a:solidFill>
                <a:latin typeface="Segoe UI"/>
              </a:defRPr>
            </a:pPr>
            <a:r>
              <a:t>Công nghệ sử dụng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402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Segoe UI"/>
              </a:defRPr>
            </a:pPr>
            <a:r>
              <a:t>• Ngôn ngữ: JavaScript (ES6+)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Segoe UI"/>
              </a:defRPr>
            </a:pPr>
            <a:r>
              <a:t>• Giao diện: HTML5 + CSS3 (Responsive)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Segoe UI"/>
              </a:defRPr>
            </a:pPr>
            <a:r>
              <a:t>• Kiến trúc: MVC (Model-View-Controller)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Segoe UI"/>
              </a:defRPr>
            </a:pPr>
            <a:r>
              <a:t>• Lưu trữ: LocalStorage (JSON Serialization)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Segoe UI"/>
              </a:defRPr>
            </a:pPr>
            <a:r>
              <a:t>• Xuất dữ liệu: SheetJS (XLSX)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49C7"/>
                </a:solidFill>
                <a:latin typeface="Segoe UI"/>
              </a:defRPr>
            </a:pPr>
            <a:r>
              <a:t>📌 Phạm vi chức năng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800600"/>
            <a:ext cx="2286000" cy="36576"/>
          </a:xfrm>
          <a:prstGeom prst="rect">
            <a:avLst/>
          </a:prstGeom>
          <a:solidFill>
            <a:srgbClr val="304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640" y="4892040"/>
            <a:ext cx="1737360" cy="155448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4892040"/>
            <a:ext cx="1737360" cy="457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983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  <a:latin typeface="Segoe UI"/>
              </a:defRPr>
            </a:pPr>
            <a:r>
              <a:t>Thêm mới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0352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  <a:latin typeface="Segoe UI"/>
              </a:defRPr>
            </a:pPr>
            <a:r>
              <a:t>Thêm sinh viên với kiểm tra</a:t>
            </a:r>
            <a:br/>
            <a:r>
              <a:t>trùng mã SV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50592" y="4892040"/>
            <a:ext cx="1737360" cy="155448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450592" y="4892040"/>
            <a:ext cx="1737360" cy="45720"/>
          </a:xfrm>
          <a:prstGeom prst="rect">
            <a:avLst/>
          </a:prstGeom>
          <a:solidFill>
            <a:srgbClr val="304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42032" y="4983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049C7"/>
                </a:solidFill>
                <a:latin typeface="Segoe UI"/>
              </a:defRPr>
            </a:pPr>
            <a:r>
              <a:t>Tìm kiếm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30352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  <a:latin typeface="Segoe UI"/>
              </a:defRPr>
            </a:pPr>
            <a:r>
              <a:t>Tìm kiếm tuyến tính theo</a:t>
            </a:r>
            <a:br/>
            <a:r>
              <a:t>mã SV, họ tên, lớp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52544" y="4892040"/>
            <a:ext cx="1737360" cy="155448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52544" y="4892040"/>
            <a:ext cx="1737360" cy="4572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43984" y="4983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A1B9A"/>
                </a:solidFill>
                <a:latin typeface="Segoe UI"/>
              </a:defRPr>
            </a:pPr>
            <a:r>
              <a:t>Sắp xếp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43984" y="530352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  <a:latin typeface="Segoe UI"/>
              </a:defRPr>
            </a:pPr>
            <a:r>
              <a:t>TimSort theo mã, tên,</a:t>
            </a:r>
            <a:br/>
            <a:r>
              <a:t>điểm TB, lớp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54496" y="4892040"/>
            <a:ext cx="1737360" cy="155448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54496" y="4892040"/>
            <a:ext cx="1737360" cy="4572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45936" y="4983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695C"/>
                </a:solidFill>
                <a:latin typeface="Segoe UI"/>
              </a:defRPr>
            </a:pPr>
            <a:r>
              <a:t>Lọc &amp; Thống kê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5936" y="530352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  <a:latin typeface="Segoe UI"/>
              </a:defRPr>
            </a:pPr>
            <a:r>
              <a:t>Lọc theo lớp, thống kê</a:t>
            </a:r>
            <a:br/>
            <a:r>
              <a:t>điểm TB, đạt/không đạt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56448" y="4892040"/>
            <a:ext cx="1737360" cy="155448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156448" y="4892040"/>
            <a:ext cx="1737360" cy="45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47888" y="4983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62828"/>
                </a:solidFill>
                <a:latin typeface="Segoe UI"/>
              </a:defRPr>
            </a:pPr>
            <a:r>
              <a:t>Cập nhật / Xóa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7888" y="530352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  <a:latin typeface="Segoe UI"/>
              </a:defRPr>
            </a:pPr>
            <a:r>
              <a:t>Sửa thông tin, xóa với</a:t>
            </a:r>
            <a:br/>
            <a:r>
              <a:t>xác nhận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58400" y="4892040"/>
            <a:ext cx="1737360" cy="155448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058400" y="4892040"/>
            <a:ext cx="1737360" cy="4572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149840" y="4983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F00"/>
                </a:solidFill>
                <a:latin typeface="Segoe UI"/>
              </a:defRPr>
            </a:pPr>
            <a:r>
              <a:t>Xuất Excel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0" y="530352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  <a:latin typeface="Segoe UI"/>
              </a:defRPr>
            </a:pPr>
            <a:r>
              <a:t>Xuất danh sách ra file</a:t>
            </a:r>
            <a:br/>
            <a:r>
              <a:t>.xlsx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02. KIẾN TRÚC HỆ THỐNG - MÔ HÌNH MVC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2926080" cy="27432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2926080" cy="5486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57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Segoe UI"/>
              </a:defRPr>
            </a:pPr>
            <a:r>
              <a:t>Dữ liệu &amp;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MangDong.js</a:t>
            </a:r>
            <a:br/>
            <a:r>
              <a:t>SinhVien.js</a:t>
            </a:r>
            <a:br/>
            <a:r>
              <a:t>data.js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371600"/>
            <a:ext cx="2926080" cy="27432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4880" y="1371600"/>
            <a:ext cx="2926080" cy="548640"/>
          </a:xfrm>
          <a:prstGeom prst="rect">
            <a:avLst/>
          </a:prstGeom>
          <a:solidFill>
            <a:srgbClr val="304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1417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057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049C7"/>
                </a:solidFill>
                <a:latin typeface="Segoe UI"/>
              </a:defRPr>
            </a:pPr>
            <a:r>
              <a:t>Giao diện hiển thị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4688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index.html</a:t>
            </a:r>
            <a:br/>
            <a:r>
              <a:t>styles.css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371600"/>
            <a:ext cx="2926080" cy="27432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595360" y="1371600"/>
            <a:ext cx="2926080" cy="54864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0" y="1417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CONTROLLER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057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A1B9A"/>
                </a:solidFill>
                <a:latin typeface="Segoe UI"/>
              </a:defRPr>
            </a:pPr>
            <a:r>
              <a:t>Điều khiển 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4688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BoQuanLySinhVien.js</a:t>
            </a:r>
            <a:br/>
            <a:r>
              <a:t>DieuKhienGiaoDien.js</a:t>
            </a:r>
            <a:br/>
            <a:r>
              <a:t>main.js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2377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6F00"/>
                </a:solidFill>
                <a:latin typeface="Segoe UI"/>
              </a:defRPr>
            </a:pPr>
            <a:r>
              <a:t>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377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6F00"/>
                </a:solidFill>
                <a:latin typeface="Segoe UI"/>
              </a:defRPr>
            </a:pPr>
            <a:r>
              <a:t>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49C7"/>
                </a:solidFill>
                <a:latin typeface="Segoe UI"/>
              </a:defRPr>
            </a:pPr>
            <a:r>
              <a:t>🔄 Pipeline xử lý dữ liệu hiển thị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00600"/>
            <a:ext cx="2286000" cy="36576"/>
          </a:xfrm>
          <a:prstGeom prst="rect">
            <a:avLst/>
          </a:prstGeom>
          <a:solidFill>
            <a:srgbClr val="304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48640" y="4937760"/>
            <a:ext cx="1554480" cy="1005840"/>
          </a:xfrm>
          <a:prstGeom prst="roundRect">
            <a:avLst/>
          </a:prstGeom>
          <a:solidFill>
            <a:srgbClr val="E8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9834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237E"/>
                </a:solidFill>
                <a:latin typeface="Segoe UI"/>
              </a:defRPr>
            </a:pPr>
            <a:r>
              <a:t>Dữ liệu gốc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394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6F00"/>
                </a:solidFill>
                <a:latin typeface="Segoe UI"/>
              </a:defRPr>
            </a:pPr>
            <a:r>
              <a:t>O(n)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166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049C7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68880" y="4937760"/>
            <a:ext cx="1554480" cy="1005840"/>
          </a:xfrm>
          <a:prstGeom prst="roundRect">
            <a:avLst/>
          </a:prstGeom>
          <a:solidFill>
            <a:srgbClr val="E8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468880" y="49834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237E"/>
                </a:solidFill>
                <a:latin typeface="Segoe UI"/>
              </a:defRPr>
            </a:pPr>
            <a:r>
              <a:t>Lọc theo lớp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5394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6F00"/>
                </a:solidFill>
                <a:latin typeface="Segoe UI"/>
              </a:defRPr>
            </a:pPr>
            <a:r>
              <a:t>O(n)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5166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049C7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4937760"/>
            <a:ext cx="1554480" cy="1005840"/>
          </a:xfrm>
          <a:prstGeom prst="roundRect">
            <a:avLst/>
          </a:prstGeom>
          <a:solidFill>
            <a:srgbClr val="E8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89120" y="49834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237E"/>
                </a:solidFill>
                <a:latin typeface="Segoe UI"/>
              </a:defRPr>
            </a:pPr>
            <a:r>
              <a:t>Tìm kiếm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5394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6F00"/>
                </a:solidFill>
                <a:latin typeface="Segoe UI"/>
              </a:defRPr>
            </a:pPr>
            <a:r>
              <a:t>O(n)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5166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049C7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4937760"/>
            <a:ext cx="1554480" cy="1005840"/>
          </a:xfrm>
          <a:prstGeom prst="roundRect">
            <a:avLst/>
          </a:prstGeom>
          <a:solidFill>
            <a:srgbClr val="E8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09360" y="49834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237E"/>
                </a:solidFill>
                <a:latin typeface="Segoe UI"/>
              </a:defRPr>
            </a:pPr>
            <a:r>
              <a:t>Sắp xếp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5394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6F00"/>
                </a:solidFill>
                <a:latin typeface="Segoe UI"/>
              </a:defRPr>
            </a:pPr>
            <a:r>
              <a:t>O(n log n)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5166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049C7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0" y="4937760"/>
            <a:ext cx="1554480" cy="1005840"/>
          </a:xfrm>
          <a:prstGeom prst="roundRect">
            <a:avLst/>
          </a:prstGeom>
          <a:solidFill>
            <a:srgbClr val="E8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29600" y="49834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237E"/>
                </a:solidFill>
                <a:latin typeface="Segoe UI"/>
              </a:defRPr>
            </a:pPr>
            <a:r>
              <a:t>Phân trang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5394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6F00"/>
                </a:solidFill>
                <a:latin typeface="Segoe UI"/>
              </a:defRPr>
            </a:pPr>
            <a:r>
              <a:t>O(k)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5166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049C7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49840" y="4937760"/>
            <a:ext cx="1554480" cy="1005840"/>
          </a:xfrm>
          <a:prstGeom prst="roundRect">
            <a:avLst/>
          </a:prstGeom>
          <a:solidFill>
            <a:srgbClr val="E8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149840" y="49834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237E"/>
                </a:solidFill>
                <a:latin typeface="Segoe UI"/>
              </a:defRPr>
            </a:pPr>
            <a:r>
              <a:t>Hiển thị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49840" y="5394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6F00"/>
                </a:solidFill>
                <a:latin typeface="Segoe UI"/>
              </a:defRPr>
            </a:pPr>
            <a:r>
              <a:t>O(k)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080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C62828"/>
                </a:solidFill>
                <a:latin typeface="Segoe UI"/>
              </a:defRPr>
            </a:pPr>
            <a:r>
              <a:t>Độ phức tạp tổng pipeline: O(n log n) — bước Sắp xếp chiếm ưu thế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03. CẤU TRÚC DỮ LIỆU - MẢNG ĐỘNG (Dynamic Array)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49C7"/>
                </a:solidFill>
                <a:latin typeface="Segoe UI"/>
              </a:defRPr>
            </a:pPr>
            <a:r>
              <a:t>📖 Khái niệm &amp; Nguyên lý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2286000" cy="36576"/>
          </a:xfrm>
          <a:prstGeom prst="rect">
            <a:avLst/>
          </a:prstGeom>
          <a:solidFill>
            <a:srgbClr val="304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86400" cy="22860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5486400" cy="4572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8928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37E"/>
                </a:solidFill>
                <a:latin typeface="Segoe UI"/>
              </a:defRPr>
            </a:pPr>
            <a:r>
              <a:t>Định nghĩa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5120640" cy="1590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Mảng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: </a:t>
            </a:r>
            <a:r>
              <a:rPr dirty="0" err="1"/>
              <a:t>cấu</a:t>
            </a:r>
            <a:r>
              <a:rPr dirty="0"/>
              <a:t> </a:t>
            </a:r>
            <a:r>
              <a:rPr dirty="0" err="1"/>
              <a:t>trúc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tuyến</a:t>
            </a:r>
            <a:r>
              <a:rPr dirty="0"/>
              <a:t>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thay</a:t>
            </a:r>
            <a:r>
              <a:rPr dirty="0"/>
              <a:t> </a:t>
            </a:r>
            <a:r>
              <a:rPr dirty="0" err="1"/>
              <a:t>đổi</a:t>
            </a:r>
            <a:r>
              <a:rPr dirty="0"/>
              <a:t> </a:t>
            </a:r>
            <a:r>
              <a:rPr dirty="0" err="1"/>
              <a:t>kích</a:t>
            </a:r>
            <a:r>
              <a:rPr dirty="0"/>
              <a:t> </a:t>
            </a:r>
            <a:r>
              <a:rPr dirty="0" err="1"/>
              <a:t>thước</a:t>
            </a:r>
            <a:endParaRPr dirty="0"/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Khác</a:t>
            </a:r>
            <a:r>
              <a:rPr dirty="0"/>
              <a:t> </a:t>
            </a:r>
            <a:r>
              <a:rPr dirty="0" err="1"/>
              <a:t>mảng</a:t>
            </a:r>
            <a:r>
              <a:rPr dirty="0"/>
              <a:t> </a:t>
            </a:r>
            <a:r>
              <a:rPr dirty="0" err="1"/>
              <a:t>tĩnh</a:t>
            </a:r>
            <a:r>
              <a:rPr dirty="0"/>
              <a:t>: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cần</a:t>
            </a:r>
            <a:r>
              <a:rPr dirty="0"/>
              <a:t> </a:t>
            </a:r>
            <a:r>
              <a:rPr dirty="0" err="1"/>
              <a:t>khai</a:t>
            </a:r>
            <a:r>
              <a:rPr dirty="0"/>
              <a:t> </a:t>
            </a:r>
            <a:r>
              <a:rPr dirty="0" err="1"/>
              <a:t>báo</a:t>
            </a:r>
            <a:r>
              <a:rPr dirty="0"/>
              <a:t> </a:t>
            </a:r>
            <a:r>
              <a:rPr dirty="0" err="1"/>
              <a:t>kích</a:t>
            </a:r>
            <a:r>
              <a:rPr dirty="0"/>
              <a:t> </a:t>
            </a:r>
            <a:r>
              <a:rPr dirty="0" err="1"/>
              <a:t>thước</a:t>
            </a:r>
            <a:r>
              <a:rPr dirty="0"/>
              <a:t> </a:t>
            </a:r>
            <a:r>
              <a:rPr dirty="0" err="1"/>
              <a:t>cố</a:t>
            </a:r>
            <a:r>
              <a:rPr dirty="0"/>
              <a:t> </a:t>
            </a:r>
            <a:r>
              <a:rPr dirty="0" err="1"/>
              <a:t>định</a:t>
            </a:r>
            <a:endParaRPr dirty="0"/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mở</a:t>
            </a:r>
            <a:r>
              <a:rPr dirty="0"/>
              <a:t> </a:t>
            </a:r>
            <a:r>
              <a:rPr dirty="0" err="1"/>
              <a:t>rộng</a:t>
            </a:r>
            <a:r>
              <a:rPr dirty="0"/>
              <a:t> </a:t>
            </a:r>
            <a:r>
              <a:rPr dirty="0" err="1"/>
              <a:t>khi</a:t>
            </a:r>
            <a:r>
              <a:rPr dirty="0"/>
              <a:t> </a:t>
            </a:r>
            <a:r>
              <a:rPr dirty="0" err="1"/>
              <a:t>đầy</a:t>
            </a:r>
            <a:r>
              <a:rPr dirty="0"/>
              <a:t>, </a:t>
            </a:r>
            <a:r>
              <a:rPr dirty="0" err="1"/>
              <a:t>thu</a:t>
            </a:r>
            <a:r>
              <a:rPr dirty="0"/>
              <a:t> </a:t>
            </a:r>
            <a:r>
              <a:rPr dirty="0" err="1"/>
              <a:t>nhỏ</a:t>
            </a:r>
            <a:r>
              <a:rPr dirty="0"/>
              <a:t> </a:t>
            </a:r>
            <a:r>
              <a:rPr dirty="0" err="1"/>
              <a:t>khi</a:t>
            </a:r>
            <a:r>
              <a:rPr dirty="0"/>
              <a:t> </a:t>
            </a:r>
            <a:r>
              <a:rPr dirty="0" err="1"/>
              <a:t>sử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</a:t>
            </a:r>
            <a:r>
              <a:rPr dirty="0" err="1"/>
              <a:t>quá</a:t>
            </a:r>
            <a:r>
              <a:rPr dirty="0"/>
              <a:t> </a:t>
            </a:r>
            <a:r>
              <a:rPr dirty="0" err="1"/>
              <a:t>ít</a:t>
            </a:r>
            <a:endParaRPr dirty="0"/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Truy</a:t>
            </a:r>
            <a:r>
              <a:rPr dirty="0"/>
              <a:t> </a:t>
            </a:r>
            <a:r>
              <a:rPr dirty="0" err="1"/>
              <a:t>cập</a:t>
            </a:r>
            <a:r>
              <a:rPr dirty="0"/>
              <a:t> </a:t>
            </a:r>
            <a:r>
              <a:rPr dirty="0" err="1"/>
              <a:t>ngẫu</a:t>
            </a:r>
            <a:r>
              <a:rPr dirty="0"/>
              <a:t> </a:t>
            </a:r>
            <a:r>
              <a:rPr dirty="0" err="1"/>
              <a:t>nhiên</a:t>
            </a:r>
            <a:r>
              <a:rPr dirty="0"/>
              <a:t> O(1) </a:t>
            </a:r>
            <a:r>
              <a:rPr dirty="0" err="1"/>
              <a:t>nhờ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nhớ</a:t>
            </a:r>
            <a:r>
              <a:rPr dirty="0"/>
              <a:t> </a:t>
            </a:r>
            <a:r>
              <a:rPr dirty="0" err="1"/>
              <a:t>liên</a:t>
            </a:r>
            <a:r>
              <a:rPr dirty="0"/>
              <a:t> </a:t>
            </a:r>
            <a:r>
              <a:rPr dirty="0" err="1"/>
              <a:t>tục</a:t>
            </a:r>
            <a:endParaRPr dirty="0"/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Thuộc</a:t>
            </a:r>
            <a:r>
              <a:rPr dirty="0"/>
              <a:t> </a:t>
            </a:r>
            <a:r>
              <a:rPr dirty="0" err="1"/>
              <a:t>tính</a:t>
            </a:r>
            <a:r>
              <a:rPr dirty="0"/>
              <a:t>: </a:t>
            </a:r>
            <a:r>
              <a:rPr dirty="0" err="1"/>
              <a:t>duLieu</a:t>
            </a:r>
            <a:r>
              <a:rPr dirty="0"/>
              <a:t>], </a:t>
            </a:r>
            <a:r>
              <a:rPr dirty="0" err="1"/>
              <a:t>kichThuoc</a:t>
            </a:r>
            <a:r>
              <a:rPr dirty="0"/>
              <a:t>, </a:t>
            </a:r>
            <a:r>
              <a:rPr dirty="0" err="1"/>
              <a:t>dungLuong</a:t>
            </a:r>
            <a:r>
              <a:rPr dirty="0"/>
              <a:t>, </a:t>
            </a:r>
            <a:r>
              <a:rPr dirty="0" err="1"/>
              <a:t>soLanThayDoi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6309360" y="1783080"/>
            <a:ext cx="5303520" cy="22860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5303520" cy="4572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89280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F00"/>
                </a:solidFill>
                <a:latin typeface="Segoe UI"/>
              </a:defRPr>
            </a:pPr>
            <a:r>
              <a:t>Chiến lược Doubling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402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Segoe UI"/>
              </a:defRPr>
            </a:pPr>
            <a:r>
              <a:t>• Mở rộng: kichThuoc &gt;= dungLuong → dungLuong × 2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Segoe UI"/>
              </a:defRPr>
            </a:pPr>
            <a:r>
              <a:t>• Thu nhỏ: kichThuoc &lt; dungLuong/4 → dungLuong ÷ 2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Segoe UI"/>
              </a:defRPr>
            </a:pPr>
            <a:r>
              <a:t>• Điều kiện tối thiểu: dungLuong &gt;= 4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Segoe UI"/>
              </a:defRPr>
            </a:pPr>
            <a:r>
              <a:t>• Hệ số tải (Load Factor): kichThuoc / dungLuong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Segoe UI"/>
              </a:defRPr>
            </a:pPr>
            <a:r>
              <a:t>• Mở rộng khi LF ≥ 1.0, thu nhỏ khi LF &lt; 0.25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49C7"/>
                </a:solidFill>
                <a:latin typeface="Segoe UI"/>
              </a:defRPr>
            </a:pPr>
            <a:r>
              <a:t>📊 Minh họa quá trình mở rộng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09160"/>
            <a:ext cx="2286000" cy="36576"/>
          </a:xfrm>
          <a:prstGeom prst="rect">
            <a:avLst/>
          </a:prstGeom>
          <a:solidFill>
            <a:srgbClr val="304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37E"/>
                </a:solidFill>
                <a:latin typeface="Segoe UI"/>
              </a:defRPr>
            </a:pPr>
            <a:r>
              <a:t>Thêm SV 1-4: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800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Segoe UI"/>
              </a:defRPr>
            </a:pPr>
            <a:r>
              <a:t>dungLuong =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800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Consolas"/>
              </a:defRPr>
            </a:pPr>
            <a:r>
              <a:t>[■][■][■][■]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800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2121"/>
                </a:solidFill>
                <a:latin typeface="Segoe UI"/>
              </a:defRPr>
            </a:pPr>
            <a:r>
              <a:t>Đầy 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257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37E"/>
                </a:solidFill>
                <a:latin typeface="Segoe UI"/>
              </a:defRPr>
            </a:pPr>
            <a:r>
              <a:t>Thêm SV 5: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257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Segoe UI"/>
              </a:defRPr>
            </a:pPr>
            <a:r>
              <a:t>dungLuong = 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257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Consolas"/>
              </a:defRPr>
            </a:pPr>
            <a:r>
              <a:t>[■][■][■][■][■][ ][ ][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5257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62828"/>
                </a:solidFill>
                <a:latin typeface="Segoe UI"/>
              </a:defRPr>
            </a:pPr>
            <a:r>
              <a:t>Mở rộng! → 62.5%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715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37E"/>
                </a:solidFill>
                <a:latin typeface="Segoe UI"/>
              </a:defRPr>
            </a:pPr>
            <a:r>
              <a:t>Thêm SV 6-8: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715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Segoe UI"/>
              </a:defRPr>
            </a:pPr>
            <a:r>
              <a:t>dungLuong = 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715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Consolas"/>
              </a:defRPr>
            </a:pPr>
            <a:r>
              <a:t>[■][■][■][■][■][■][■][■]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5715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2121"/>
                </a:solidFill>
                <a:latin typeface="Segoe UI"/>
              </a:defRPr>
            </a:pPr>
            <a:r>
              <a:t>Đầy 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172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37E"/>
                </a:solidFill>
                <a:latin typeface="Segoe UI"/>
              </a:defRPr>
            </a:pPr>
            <a:r>
              <a:t>Thêm SV 9: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6172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Segoe UI"/>
              </a:defRPr>
            </a:pPr>
            <a:r>
              <a:t>dungLuong = 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172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Consolas"/>
              </a:defRPr>
            </a:pPr>
            <a:r>
              <a:t>[■][■]...[■][ ][ ][ ][ ][ ][ ][ 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6172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62828"/>
                </a:solidFill>
                <a:latin typeface="Segoe UI"/>
              </a:defRPr>
            </a:pPr>
            <a:r>
              <a:t>Mở rộng! → 56.25%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03b. PHÂN TÍCH CHI PHÍ KHẤU HAO (Amortized Analysis)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49C7"/>
                </a:solidFill>
                <a:latin typeface="Segoe UI"/>
              </a:defRPr>
            </a:pPr>
            <a:r>
              <a:t>📐 Chứng minh bằng phương pháp Tổng (Aggregate Method)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2286000" cy="36576"/>
          </a:xfrm>
          <a:prstGeom prst="rect">
            <a:avLst/>
          </a:prstGeom>
          <a:solidFill>
            <a:srgbClr val="304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11155680" cy="146304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1155680" cy="4572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9385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37E"/>
                </a:solidFill>
                <a:latin typeface="Segoe UI"/>
              </a:defRPr>
            </a:pPr>
            <a:r>
              <a:t>Bài toán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2121"/>
                </a:solidFill>
                <a:latin typeface="Segoe UI"/>
              </a:defRPr>
            </a:pPr>
            <a:r>
              <a:t>• Mỗi lần thêm phần tử: chi phí O(1) nếu không cần mở rộng</a:t>
            </a:r>
          </a:p>
          <a:p>
            <a:pPr>
              <a:spcAft>
                <a:spcPts val="400"/>
              </a:spcAft>
              <a:defRPr sz="1500">
                <a:solidFill>
                  <a:srgbClr val="212121"/>
                </a:solidFill>
                <a:latin typeface="Segoe UI"/>
              </a:defRPr>
            </a:pPr>
            <a:r>
              <a:t>• Khi cần mở rộng: phải sao chép toàn bộ n phần tử → O(n)</a:t>
            </a:r>
          </a:p>
          <a:p>
            <a:pPr>
              <a:spcAft>
                <a:spcPts val="400"/>
              </a:spcAft>
              <a:defRPr sz="1500">
                <a:solidFill>
                  <a:srgbClr val="212121"/>
                </a:solidFill>
                <a:latin typeface="Segoe UI"/>
              </a:defRPr>
            </a:pPr>
            <a:r>
              <a:t>• Câu hỏi: Chi phí trung bình cho mỗi lần thêm là bao nhiêu?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49C7"/>
                </a:solidFill>
                <a:latin typeface="Segoe UI"/>
              </a:defRPr>
            </a:pPr>
            <a:r>
              <a:t>🔢 Tính toán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77640"/>
            <a:ext cx="2286000" cy="36576"/>
          </a:xfrm>
          <a:prstGeom prst="rect">
            <a:avLst/>
          </a:prstGeom>
          <a:solidFill>
            <a:srgbClr val="304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6400800" cy="2468880"/>
          </a:xfrm>
          <a:prstGeom prst="round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160520"/>
            <a:ext cx="6035040" cy="1959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A5D6A7"/>
                </a:solidFill>
                <a:latin typeface="Consolas"/>
              </a:defRPr>
            </a:pPr>
            <a:r>
              <a:rPr sz="1200" dirty="0" err="1"/>
              <a:t>Tổng</a:t>
            </a:r>
            <a:r>
              <a:rPr sz="1200" dirty="0"/>
              <a:t> chi </a:t>
            </a:r>
            <a:r>
              <a:rPr sz="1200" dirty="0" err="1"/>
              <a:t>phí</a:t>
            </a:r>
            <a:r>
              <a:rPr sz="1200" dirty="0"/>
              <a:t> </a:t>
            </a:r>
            <a:r>
              <a:rPr sz="1200" dirty="0" err="1"/>
              <a:t>cho</a:t>
            </a:r>
            <a:r>
              <a:rPr sz="1200" dirty="0"/>
              <a:t> n </a:t>
            </a:r>
            <a:r>
              <a:rPr sz="1200" dirty="0" err="1"/>
              <a:t>lần</a:t>
            </a:r>
            <a:r>
              <a:rPr sz="1200" dirty="0"/>
              <a:t> </a:t>
            </a:r>
            <a:r>
              <a:rPr sz="1200" dirty="0" err="1"/>
              <a:t>thêm</a:t>
            </a:r>
            <a:r>
              <a:rPr sz="1200" dirty="0"/>
              <a:t> </a:t>
            </a:r>
            <a:r>
              <a:rPr sz="1200" dirty="0" err="1"/>
              <a:t>liên</a:t>
            </a:r>
            <a:r>
              <a:rPr sz="1200" dirty="0"/>
              <a:t> </a:t>
            </a:r>
            <a:r>
              <a:rPr sz="1200" dirty="0" err="1"/>
              <a:t>tiếp</a:t>
            </a:r>
            <a:r>
              <a:rPr sz="1200" dirty="0"/>
              <a:t>:</a:t>
            </a:r>
          </a:p>
          <a:p>
            <a:pPr>
              <a:spcAft>
                <a:spcPts val="200"/>
              </a:spcAft>
              <a:defRPr sz="1500">
                <a:solidFill>
                  <a:srgbClr val="A5D6A7"/>
                </a:solidFill>
                <a:latin typeface="Consolas"/>
              </a:defRPr>
            </a:pPr>
            <a:r>
              <a:rPr sz="1200" dirty="0"/>
              <a:t>  = n (chi </a:t>
            </a:r>
            <a:r>
              <a:rPr sz="1200" dirty="0" err="1"/>
              <a:t>phí</a:t>
            </a:r>
            <a:r>
              <a:rPr sz="1200" dirty="0"/>
              <a:t> </a:t>
            </a:r>
            <a:r>
              <a:rPr sz="1200" dirty="0" err="1"/>
              <a:t>thêm</a:t>
            </a:r>
            <a:r>
              <a:rPr sz="1200" dirty="0"/>
              <a:t> </a:t>
            </a:r>
            <a:r>
              <a:rPr sz="1200" dirty="0" err="1"/>
              <a:t>thông</a:t>
            </a:r>
            <a:r>
              <a:rPr sz="1200" dirty="0"/>
              <a:t> </a:t>
            </a:r>
            <a:r>
              <a:rPr sz="1200" dirty="0" err="1"/>
              <a:t>thường</a:t>
            </a:r>
            <a:r>
              <a:rPr sz="1200" dirty="0"/>
              <a:t>)</a:t>
            </a:r>
          </a:p>
          <a:p>
            <a:pPr>
              <a:spcAft>
                <a:spcPts val="200"/>
              </a:spcAft>
              <a:defRPr sz="1500">
                <a:solidFill>
                  <a:srgbClr val="A5D6A7"/>
                </a:solidFill>
                <a:latin typeface="Consolas"/>
              </a:defRPr>
            </a:pPr>
            <a:r>
              <a:rPr sz="1200" dirty="0"/>
              <a:t>  + (1 + 2 + 4 + 8 + ... + n)  (chi </a:t>
            </a:r>
            <a:r>
              <a:rPr sz="1200" dirty="0" err="1"/>
              <a:t>phí</a:t>
            </a:r>
            <a:r>
              <a:rPr sz="1200" dirty="0"/>
              <a:t> </a:t>
            </a:r>
            <a:r>
              <a:rPr sz="1200" dirty="0" err="1"/>
              <a:t>sao</a:t>
            </a:r>
            <a:r>
              <a:rPr sz="1200" dirty="0"/>
              <a:t> </a:t>
            </a:r>
            <a:r>
              <a:rPr sz="1200" dirty="0" err="1"/>
              <a:t>chép</a:t>
            </a:r>
            <a:r>
              <a:rPr sz="1200" dirty="0"/>
              <a:t> </a:t>
            </a:r>
            <a:r>
              <a:rPr sz="1200" dirty="0" err="1"/>
              <a:t>khi</a:t>
            </a:r>
            <a:r>
              <a:rPr sz="1200" dirty="0"/>
              <a:t> </a:t>
            </a:r>
            <a:r>
              <a:rPr sz="1200" dirty="0" err="1"/>
              <a:t>mở</a:t>
            </a:r>
            <a:r>
              <a:rPr sz="1200" dirty="0"/>
              <a:t> </a:t>
            </a:r>
            <a:r>
              <a:rPr sz="1200" dirty="0" err="1"/>
              <a:t>rộng</a:t>
            </a:r>
            <a:r>
              <a:rPr sz="1200" dirty="0"/>
              <a:t>)</a:t>
            </a:r>
          </a:p>
          <a:p>
            <a:pPr>
              <a:spcAft>
                <a:spcPts val="200"/>
              </a:spcAft>
              <a:defRPr sz="1500">
                <a:solidFill>
                  <a:srgbClr val="A5D6A7"/>
                </a:solidFill>
                <a:latin typeface="Consolas"/>
              </a:defRPr>
            </a:pPr>
            <a:r>
              <a:rPr sz="1200" dirty="0"/>
              <a:t>  = n + (2n - 1)</a:t>
            </a:r>
          </a:p>
          <a:p>
            <a:pPr>
              <a:spcAft>
                <a:spcPts val="200"/>
              </a:spcAft>
              <a:defRPr sz="1500">
                <a:solidFill>
                  <a:srgbClr val="A5D6A7"/>
                </a:solidFill>
                <a:latin typeface="Consolas"/>
              </a:defRPr>
            </a:pPr>
            <a:r>
              <a:rPr sz="1200" dirty="0"/>
              <a:t>  = 3n - 1</a:t>
            </a:r>
          </a:p>
          <a:p>
            <a:pPr>
              <a:spcAft>
                <a:spcPts val="200"/>
              </a:spcAft>
              <a:defRPr sz="1500">
                <a:solidFill>
                  <a:srgbClr val="A5D6A7"/>
                </a:solidFill>
                <a:latin typeface="Consolas"/>
              </a:defRPr>
            </a:pPr>
            <a:endParaRPr sz="1200" dirty="0"/>
          </a:p>
          <a:p>
            <a:pPr>
              <a:spcAft>
                <a:spcPts val="200"/>
              </a:spcAft>
              <a:defRPr sz="1500">
                <a:solidFill>
                  <a:srgbClr val="A5D6A7"/>
                </a:solidFill>
                <a:latin typeface="Consolas"/>
              </a:defRPr>
            </a:pPr>
            <a:r>
              <a:rPr sz="1200" dirty="0"/>
              <a:t>Chi </a:t>
            </a:r>
            <a:r>
              <a:rPr sz="1200" dirty="0" err="1"/>
              <a:t>phí</a:t>
            </a:r>
            <a:r>
              <a:rPr sz="1200" dirty="0"/>
              <a:t> </a:t>
            </a:r>
            <a:r>
              <a:rPr sz="1200" dirty="0" err="1"/>
              <a:t>trung</a:t>
            </a:r>
            <a:r>
              <a:rPr sz="1200" dirty="0"/>
              <a:t> </a:t>
            </a:r>
            <a:r>
              <a:rPr sz="1200" dirty="0" err="1"/>
              <a:t>bình</a:t>
            </a:r>
            <a:r>
              <a:rPr sz="1200" dirty="0"/>
              <a:t> </a:t>
            </a:r>
            <a:r>
              <a:rPr sz="1200" dirty="0" err="1"/>
              <a:t>mỗi</a:t>
            </a:r>
            <a:r>
              <a:rPr sz="1200" dirty="0"/>
              <a:t> </a:t>
            </a:r>
            <a:r>
              <a:rPr sz="1200" dirty="0" err="1"/>
              <a:t>lần</a:t>
            </a:r>
            <a:r>
              <a:rPr sz="1200" dirty="0"/>
              <a:t> </a:t>
            </a:r>
            <a:r>
              <a:rPr sz="1200" dirty="0" err="1"/>
              <a:t>thêm</a:t>
            </a:r>
            <a:r>
              <a:rPr sz="1200" dirty="0"/>
              <a:t> = (3n - 1) / n ≈ 3 = O(1)</a:t>
            </a:r>
          </a:p>
          <a:p>
            <a:pPr>
              <a:spcAft>
                <a:spcPts val="200"/>
              </a:spcAft>
              <a:defRPr sz="1500">
                <a:solidFill>
                  <a:srgbClr val="A5D6A7"/>
                </a:solidFill>
                <a:latin typeface="Consolas"/>
              </a:defRPr>
            </a:pPr>
            <a:endParaRPr sz="1200" dirty="0"/>
          </a:p>
          <a:p>
            <a:pPr>
              <a:spcAft>
                <a:spcPts val="200"/>
              </a:spcAft>
              <a:defRPr sz="1500">
                <a:solidFill>
                  <a:srgbClr val="A5D6A7"/>
                </a:solidFill>
                <a:latin typeface="Consolas"/>
              </a:defRPr>
            </a:pPr>
            <a:r>
              <a:rPr sz="1200" dirty="0"/>
              <a:t>→ </a:t>
            </a:r>
            <a:r>
              <a:rPr sz="1200" dirty="0" err="1"/>
              <a:t>Kết</a:t>
            </a:r>
            <a:r>
              <a:rPr sz="1200" dirty="0"/>
              <a:t> </a:t>
            </a:r>
            <a:r>
              <a:rPr sz="1200" dirty="0" err="1"/>
              <a:t>luận</a:t>
            </a:r>
            <a:r>
              <a:rPr sz="1200" dirty="0"/>
              <a:t>: Chi </a:t>
            </a:r>
            <a:r>
              <a:rPr sz="1200" dirty="0" err="1"/>
              <a:t>phí</a:t>
            </a:r>
            <a:r>
              <a:rPr sz="1200" dirty="0"/>
              <a:t> </a:t>
            </a:r>
            <a:r>
              <a:rPr sz="1200" dirty="0" err="1"/>
              <a:t>khấu</a:t>
            </a:r>
            <a:r>
              <a:rPr sz="1200" dirty="0"/>
              <a:t> hao (Amortized Cost) = O(1)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3566160"/>
            <a:ext cx="4389120" cy="292608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0" y="3566160"/>
            <a:ext cx="4389120" cy="45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0" y="367588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62828"/>
                </a:solidFill>
                <a:latin typeface="Segoe UI"/>
              </a:defRPr>
            </a:pPr>
            <a:r>
              <a:t>So sánh với mảng tĩnh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4023360"/>
            <a:ext cx="4023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r>
              <a:t>Mảng tĩnh:</a:t>
            </a:r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r>
              <a:t>  • Kích thước cố định, không thể mở rộng</a:t>
            </a:r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r>
              <a:t>  • Lãng phí bộ nhớ nếu khai báo quá lớn</a:t>
            </a:r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r>
              <a:t>  • Tràn mảng nếu khai báo quá nhỏ</a:t>
            </a:r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r>
              <a:t>Mảng động:</a:t>
            </a:r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r>
              <a:t>  • Tự động điều chỉnh kích thước</a:t>
            </a:r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r>
              <a:t>  • Sử dụng bộ nhớ hiệu quả</a:t>
            </a:r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r>
              <a:t>  • Chi phí thêm trung bình O(1)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04a. THUẬT TOÁN THÊM PHẦN TỬ VÀO CUỐI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49C7"/>
                </a:solidFill>
                <a:latin typeface="Segoe UI"/>
              </a:defRPr>
            </a:pPr>
            <a:r>
              <a:t>📝 Mã giả (Pseudocode)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2286000" cy="36576"/>
          </a:xfrm>
          <a:prstGeom prst="rect">
            <a:avLst/>
          </a:prstGeom>
          <a:solidFill>
            <a:srgbClr val="304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6400800" cy="2194560"/>
          </a:xfrm>
          <a:prstGeom prst="round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6035040" cy="181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r>
              <a:rPr sz="1200" dirty="0"/>
              <a:t>FUNCTION them(</a:t>
            </a:r>
            <a:r>
              <a:rPr sz="1200" dirty="0" err="1"/>
              <a:t>phanTu</a:t>
            </a:r>
            <a:r>
              <a:rPr sz="1200" dirty="0"/>
              <a:t>):</a:t>
            </a:r>
          </a:p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r>
              <a:rPr sz="1200" dirty="0"/>
              <a:t>    IF </a:t>
            </a:r>
            <a:r>
              <a:rPr sz="1200" dirty="0" err="1"/>
              <a:t>kichThuoc</a:t>
            </a:r>
            <a:r>
              <a:rPr sz="1200" dirty="0"/>
              <a:t> &gt;= </a:t>
            </a:r>
            <a:r>
              <a:rPr sz="1200" dirty="0" err="1"/>
              <a:t>dungLuong</a:t>
            </a:r>
            <a:r>
              <a:rPr sz="1200" dirty="0"/>
              <a:t> THEN</a:t>
            </a:r>
          </a:p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r>
              <a:rPr sz="1200" dirty="0"/>
              <a:t>        _</a:t>
            </a:r>
            <a:r>
              <a:rPr sz="1200" dirty="0" err="1"/>
              <a:t>thayDoiKichThuoc</a:t>
            </a:r>
            <a:r>
              <a:rPr sz="1200" dirty="0"/>
              <a:t>(</a:t>
            </a:r>
            <a:r>
              <a:rPr sz="1200" dirty="0" err="1"/>
              <a:t>dungLuong</a:t>
            </a:r>
            <a:r>
              <a:rPr sz="1200" dirty="0"/>
              <a:t> * 2)  // </a:t>
            </a:r>
            <a:r>
              <a:rPr sz="1200" dirty="0" err="1"/>
              <a:t>Mở</a:t>
            </a:r>
            <a:r>
              <a:rPr sz="1200" dirty="0"/>
              <a:t> </a:t>
            </a:r>
            <a:r>
              <a:rPr sz="1200" dirty="0" err="1"/>
              <a:t>rộng</a:t>
            </a:r>
            <a:r>
              <a:rPr sz="1200" dirty="0"/>
              <a:t> </a:t>
            </a:r>
            <a:r>
              <a:rPr sz="1200" dirty="0" err="1"/>
              <a:t>gấp</a:t>
            </a:r>
            <a:r>
              <a:rPr sz="1200" dirty="0"/>
              <a:t> </a:t>
            </a:r>
            <a:r>
              <a:rPr sz="1200" dirty="0" err="1"/>
              <a:t>đôi</a:t>
            </a:r>
            <a:endParaRPr sz="1200" dirty="0"/>
          </a:p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r>
              <a:rPr sz="1200" dirty="0"/>
              <a:t>    END IF</a:t>
            </a:r>
          </a:p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r>
              <a:rPr sz="1200" dirty="0"/>
              <a:t>    </a:t>
            </a:r>
            <a:r>
              <a:rPr sz="1200" dirty="0" err="1"/>
              <a:t>duLieu</a:t>
            </a:r>
            <a:r>
              <a:rPr sz="1200" dirty="0"/>
              <a:t>[</a:t>
            </a:r>
            <a:r>
              <a:rPr sz="1200" dirty="0" err="1"/>
              <a:t>kichThuoc</a:t>
            </a:r>
            <a:r>
              <a:rPr sz="1200" dirty="0"/>
              <a:t>] = </a:t>
            </a:r>
            <a:r>
              <a:rPr sz="1200" dirty="0" err="1"/>
              <a:t>phanTu</a:t>
            </a:r>
            <a:r>
              <a:rPr sz="1200" dirty="0"/>
              <a:t>            // </a:t>
            </a:r>
            <a:r>
              <a:rPr sz="1200" dirty="0" err="1"/>
              <a:t>Gán</a:t>
            </a:r>
            <a:r>
              <a:rPr sz="1200" dirty="0"/>
              <a:t> </a:t>
            </a:r>
            <a:r>
              <a:rPr sz="1200" dirty="0" err="1"/>
              <a:t>phần</a:t>
            </a:r>
            <a:r>
              <a:rPr sz="1200" dirty="0"/>
              <a:t> </a:t>
            </a:r>
            <a:r>
              <a:rPr sz="1200" dirty="0" err="1"/>
              <a:t>tử</a:t>
            </a:r>
            <a:endParaRPr sz="1200" dirty="0"/>
          </a:p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r>
              <a:rPr sz="1200" dirty="0"/>
              <a:t>    </a:t>
            </a:r>
            <a:r>
              <a:rPr sz="1200" dirty="0" err="1"/>
              <a:t>kichThuoc</a:t>
            </a:r>
            <a:r>
              <a:rPr sz="1200" dirty="0"/>
              <a:t> = </a:t>
            </a:r>
            <a:r>
              <a:rPr sz="1200" dirty="0" err="1"/>
              <a:t>kichThuoc</a:t>
            </a:r>
            <a:r>
              <a:rPr sz="1200" dirty="0"/>
              <a:t> + 1             // </a:t>
            </a:r>
            <a:r>
              <a:rPr sz="1200" dirty="0" err="1"/>
              <a:t>Tăng</a:t>
            </a:r>
            <a:r>
              <a:rPr sz="1200" dirty="0"/>
              <a:t> </a:t>
            </a:r>
            <a:r>
              <a:rPr sz="1200" dirty="0" err="1"/>
              <a:t>kích</a:t>
            </a:r>
            <a:r>
              <a:rPr sz="1200" dirty="0"/>
              <a:t> </a:t>
            </a:r>
            <a:r>
              <a:rPr sz="1200" dirty="0" err="1"/>
              <a:t>thước</a:t>
            </a:r>
            <a:endParaRPr sz="1200" dirty="0"/>
          </a:p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r>
              <a:rPr sz="1200" dirty="0"/>
              <a:t>    RETURN </a:t>
            </a:r>
            <a:r>
              <a:rPr sz="1200" dirty="0" err="1"/>
              <a:t>kichThuoc</a:t>
            </a:r>
            <a:endParaRPr sz="1200" dirty="0"/>
          </a:p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r>
              <a:rPr sz="1200" dirty="0"/>
              <a:t>END FUNCTION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49C7"/>
                </a:solidFill>
                <a:latin typeface="Segoe UI"/>
              </a:defRPr>
            </a:pPr>
            <a:r>
              <a:t>Thêm Sinh viên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691640"/>
            <a:ext cx="2286000" cy="36576"/>
          </a:xfrm>
          <a:prstGeom prst="rect">
            <a:avLst/>
          </a:prstGeom>
          <a:solidFill>
            <a:srgbClr val="304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0" y="1783080"/>
            <a:ext cx="4389120" cy="2423160"/>
          </a:xfrm>
          <a:prstGeom prst="round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0" y="1920240"/>
            <a:ext cx="4023360" cy="2126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sz="1050" dirty="0"/>
              <a:t>FUNCTION </a:t>
            </a:r>
            <a:r>
              <a:rPr sz="1050" dirty="0" err="1"/>
              <a:t>themSinhVien</a:t>
            </a:r>
            <a:r>
              <a:rPr sz="1050" dirty="0"/>
              <a:t>(</a:t>
            </a:r>
            <a:r>
              <a:rPr sz="1050" dirty="0" err="1"/>
              <a:t>sinhVien</a:t>
            </a:r>
            <a:r>
              <a:rPr sz="1050" dirty="0"/>
              <a:t>):</a:t>
            </a:r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sz="1050" dirty="0"/>
              <a:t>    // B1: </a:t>
            </a:r>
            <a:r>
              <a:rPr sz="1050" dirty="0" err="1"/>
              <a:t>Kiểm</a:t>
            </a:r>
            <a:r>
              <a:rPr sz="1050" dirty="0"/>
              <a:t> </a:t>
            </a:r>
            <a:r>
              <a:rPr sz="1050" dirty="0" err="1"/>
              <a:t>tra</a:t>
            </a:r>
            <a:r>
              <a:rPr sz="1050" dirty="0"/>
              <a:t> </a:t>
            </a:r>
            <a:r>
              <a:rPr sz="1050" dirty="0" err="1"/>
              <a:t>trùng</a:t>
            </a:r>
            <a:r>
              <a:rPr sz="1050" dirty="0"/>
              <a:t> </a:t>
            </a:r>
            <a:r>
              <a:rPr sz="1050" dirty="0" err="1"/>
              <a:t>mã</a:t>
            </a:r>
            <a:r>
              <a:rPr sz="1050" dirty="0"/>
              <a:t> → O(n)</a:t>
            </a:r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sz="1050" dirty="0"/>
              <a:t>    </a:t>
            </a:r>
            <a:r>
              <a:rPr sz="1050" dirty="0" err="1"/>
              <a:t>viTriTrung</a:t>
            </a:r>
            <a:r>
              <a:rPr sz="1050" dirty="0"/>
              <a:t> = </a:t>
            </a:r>
            <a:r>
              <a:rPr sz="1050" dirty="0" err="1"/>
              <a:t>timViTri</a:t>
            </a:r>
            <a:r>
              <a:rPr sz="1050" dirty="0"/>
              <a:t>(</a:t>
            </a:r>
            <a:r>
              <a:rPr sz="1050" dirty="0" err="1"/>
              <a:t>sv.maSV</a:t>
            </a:r>
            <a:r>
              <a:rPr sz="1050" dirty="0"/>
              <a:t> == </a:t>
            </a:r>
            <a:r>
              <a:rPr sz="1050" dirty="0" err="1"/>
              <a:t>sinhVien.maSV</a:t>
            </a:r>
            <a:r>
              <a:rPr sz="1050" dirty="0"/>
              <a:t>)</a:t>
            </a:r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sz="1050" dirty="0"/>
              <a:t>    IF </a:t>
            </a:r>
            <a:r>
              <a:rPr sz="1050" dirty="0" err="1"/>
              <a:t>viTriTrung</a:t>
            </a:r>
            <a:r>
              <a:rPr sz="1050" dirty="0"/>
              <a:t> != -1 THEN</a:t>
            </a:r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sz="1050" dirty="0"/>
              <a:t>        THROW "</a:t>
            </a:r>
            <a:r>
              <a:rPr sz="1050" dirty="0" err="1"/>
              <a:t>Mã</a:t>
            </a:r>
            <a:r>
              <a:rPr sz="1050" dirty="0"/>
              <a:t> SV </a:t>
            </a:r>
            <a:r>
              <a:rPr sz="1050" dirty="0" err="1"/>
              <a:t>đã</a:t>
            </a:r>
            <a:r>
              <a:rPr sz="1050" dirty="0"/>
              <a:t> </a:t>
            </a:r>
            <a:r>
              <a:rPr sz="1050" dirty="0" err="1"/>
              <a:t>tồn</a:t>
            </a:r>
            <a:r>
              <a:rPr sz="1050" dirty="0"/>
              <a:t> </a:t>
            </a:r>
            <a:r>
              <a:rPr sz="1050" dirty="0" err="1"/>
              <a:t>tại</a:t>
            </a:r>
            <a:r>
              <a:rPr sz="1050" dirty="0"/>
              <a:t>!"</a:t>
            </a:r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sz="1050" dirty="0"/>
              <a:t>    END IF</a:t>
            </a:r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sz="1050" dirty="0"/>
              <a:t>    // B2: </a:t>
            </a:r>
            <a:r>
              <a:rPr sz="1050" dirty="0" err="1"/>
              <a:t>Thêm</a:t>
            </a:r>
            <a:r>
              <a:rPr sz="1050" dirty="0"/>
              <a:t> </a:t>
            </a:r>
            <a:r>
              <a:rPr sz="1050" dirty="0" err="1"/>
              <a:t>vào</a:t>
            </a:r>
            <a:r>
              <a:rPr sz="1050" dirty="0"/>
              <a:t> </a:t>
            </a:r>
            <a:r>
              <a:rPr sz="1050" dirty="0" err="1"/>
              <a:t>mảng</a:t>
            </a:r>
            <a:r>
              <a:rPr sz="1050" dirty="0"/>
              <a:t> → O(1)*</a:t>
            </a:r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sz="1050" dirty="0"/>
              <a:t>    </a:t>
            </a:r>
            <a:r>
              <a:rPr sz="1050" dirty="0" err="1"/>
              <a:t>mangDong.them</a:t>
            </a:r>
            <a:r>
              <a:rPr sz="1050" dirty="0"/>
              <a:t>(</a:t>
            </a:r>
            <a:r>
              <a:rPr sz="1050" dirty="0" err="1"/>
              <a:t>sinhVien</a:t>
            </a:r>
            <a:r>
              <a:rPr sz="1050" dirty="0"/>
              <a:t>)</a:t>
            </a:r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sz="1050" dirty="0"/>
              <a:t>    // B3: Lưu </a:t>
            </a:r>
            <a:r>
              <a:rPr sz="1050" dirty="0" err="1"/>
              <a:t>localStorage</a:t>
            </a:r>
            <a:endParaRPr sz="1050" dirty="0"/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sz="1050" dirty="0"/>
              <a:t>    </a:t>
            </a:r>
            <a:r>
              <a:rPr sz="1050" dirty="0" err="1"/>
              <a:t>luuVaoBoNhoCucBo</a:t>
            </a:r>
            <a:r>
              <a:rPr sz="1050" dirty="0"/>
              <a:t>()</a:t>
            </a:r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sz="1050" dirty="0"/>
              <a:t>END 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49C7"/>
                </a:solidFill>
                <a:latin typeface="Segoe UI"/>
              </a:defRPr>
            </a:pPr>
            <a:r>
              <a:t>⏱️ Độ phức tạp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617720"/>
            <a:ext cx="2286000" cy="36576"/>
          </a:xfrm>
          <a:prstGeom prst="rect">
            <a:avLst/>
          </a:prstGeom>
          <a:solidFill>
            <a:srgbClr val="304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4709160"/>
          <a:ext cx="104241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Thao tác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Tốt nhất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Xấu nhất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Trung bình (Amortized)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them() - không mở rộng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them() - có mở rộng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them() - tổng thể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O(1) ← khấu hao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themSinhVien()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O(n) ← do kiểm tra trùng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04b. THUẬT TOÁN XÓA PHẦN TỬ TẠI VỊ TRÍ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49C7"/>
                </a:solidFill>
                <a:latin typeface="Segoe UI"/>
              </a:defRPr>
            </a:pPr>
            <a:r>
              <a:t>📝 Mã giả (Pseudocode)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2286000" cy="36576"/>
          </a:xfrm>
          <a:prstGeom prst="rect">
            <a:avLst/>
          </a:prstGeom>
          <a:solidFill>
            <a:srgbClr val="304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055455" cy="3742382"/>
          </a:xfrm>
          <a:prstGeom prst="round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4123853" cy="3513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A5D6A7"/>
                </a:solidFill>
                <a:latin typeface="Consolas"/>
              </a:defRPr>
            </a:pPr>
            <a:r>
              <a:rPr sz="900" dirty="0"/>
              <a:t>FUNCTION </a:t>
            </a:r>
            <a:r>
              <a:rPr sz="900" dirty="0" err="1"/>
              <a:t>xoaTaiViTri</a:t>
            </a:r>
            <a:r>
              <a:rPr sz="900" dirty="0"/>
              <a:t>(</a:t>
            </a:r>
            <a:r>
              <a:rPr sz="900" dirty="0" err="1"/>
              <a:t>viTri</a:t>
            </a:r>
            <a:r>
              <a:rPr sz="900" dirty="0"/>
              <a:t>):</a:t>
            </a:r>
          </a:p>
          <a:p>
            <a:pPr>
              <a:spcAft>
                <a:spcPts val="200"/>
              </a:spcAft>
              <a:defRPr sz="1300">
                <a:solidFill>
                  <a:srgbClr val="A5D6A7"/>
                </a:solidFill>
                <a:latin typeface="Consolas"/>
              </a:defRPr>
            </a:pPr>
            <a:r>
              <a:rPr sz="900" dirty="0"/>
              <a:t>    IF </a:t>
            </a:r>
            <a:r>
              <a:rPr sz="900" dirty="0" err="1"/>
              <a:t>viTri</a:t>
            </a:r>
            <a:r>
              <a:rPr sz="900" dirty="0"/>
              <a:t> &lt; 0 OR </a:t>
            </a:r>
            <a:r>
              <a:rPr sz="900" dirty="0" err="1"/>
              <a:t>viTri</a:t>
            </a:r>
            <a:r>
              <a:rPr sz="900" dirty="0"/>
              <a:t> &gt;= </a:t>
            </a:r>
            <a:r>
              <a:rPr sz="900" dirty="0" err="1"/>
              <a:t>kichThuoc</a:t>
            </a:r>
            <a:r>
              <a:rPr sz="900" dirty="0"/>
              <a:t> THEN</a:t>
            </a:r>
          </a:p>
          <a:p>
            <a:pPr>
              <a:spcAft>
                <a:spcPts val="200"/>
              </a:spcAft>
              <a:defRPr sz="1300">
                <a:solidFill>
                  <a:srgbClr val="A5D6A7"/>
                </a:solidFill>
                <a:latin typeface="Consolas"/>
              </a:defRPr>
            </a:pPr>
            <a:r>
              <a:rPr sz="900" dirty="0"/>
              <a:t>        THROW "</a:t>
            </a:r>
            <a:r>
              <a:rPr sz="900" dirty="0" err="1"/>
              <a:t>Vị</a:t>
            </a:r>
            <a:r>
              <a:rPr sz="900" dirty="0"/>
              <a:t> </a:t>
            </a:r>
            <a:r>
              <a:rPr sz="900" dirty="0" err="1"/>
              <a:t>trí</a:t>
            </a:r>
            <a:r>
              <a:rPr sz="900" dirty="0"/>
              <a:t> </a:t>
            </a:r>
            <a:r>
              <a:rPr sz="900" dirty="0" err="1"/>
              <a:t>ngoài</a:t>
            </a:r>
            <a:r>
              <a:rPr sz="900" dirty="0"/>
              <a:t> </a:t>
            </a:r>
            <a:r>
              <a:rPr sz="900" dirty="0" err="1"/>
              <a:t>phạm</a:t>
            </a:r>
            <a:r>
              <a:rPr sz="900" dirty="0"/>
              <a:t> vi!"</a:t>
            </a:r>
          </a:p>
          <a:p>
            <a:pPr>
              <a:spcAft>
                <a:spcPts val="200"/>
              </a:spcAft>
              <a:defRPr sz="1300">
                <a:solidFill>
                  <a:srgbClr val="A5D6A7"/>
                </a:solidFill>
                <a:latin typeface="Consolas"/>
              </a:defRPr>
            </a:pPr>
            <a:r>
              <a:rPr sz="900" dirty="0"/>
              <a:t>    END IF</a:t>
            </a:r>
          </a:p>
          <a:p>
            <a:pPr>
              <a:spcAft>
                <a:spcPts val="200"/>
              </a:spcAft>
              <a:defRPr sz="1300">
                <a:solidFill>
                  <a:srgbClr val="A5D6A7"/>
                </a:solidFill>
                <a:latin typeface="Consolas"/>
              </a:defRPr>
            </a:pPr>
            <a:r>
              <a:rPr sz="900" dirty="0"/>
              <a:t>    </a:t>
            </a:r>
          </a:p>
          <a:p>
            <a:pPr>
              <a:spcAft>
                <a:spcPts val="200"/>
              </a:spcAft>
              <a:defRPr sz="1300">
                <a:solidFill>
                  <a:srgbClr val="A5D6A7"/>
                </a:solidFill>
                <a:latin typeface="Consolas"/>
              </a:defRPr>
            </a:pPr>
            <a:r>
              <a:rPr sz="900" dirty="0"/>
              <a:t>    </a:t>
            </a:r>
            <a:r>
              <a:rPr sz="900" dirty="0" err="1"/>
              <a:t>phanTuDaXoa</a:t>
            </a:r>
            <a:r>
              <a:rPr sz="900" dirty="0"/>
              <a:t> = </a:t>
            </a:r>
            <a:r>
              <a:rPr sz="900" dirty="0" err="1"/>
              <a:t>duLieu</a:t>
            </a:r>
            <a:r>
              <a:rPr sz="900" dirty="0"/>
              <a:t>[</a:t>
            </a:r>
            <a:r>
              <a:rPr sz="900" dirty="0" err="1"/>
              <a:t>viTri</a:t>
            </a:r>
            <a:r>
              <a:rPr sz="900" dirty="0"/>
              <a:t>]</a:t>
            </a:r>
          </a:p>
          <a:p>
            <a:pPr>
              <a:spcAft>
                <a:spcPts val="200"/>
              </a:spcAft>
              <a:defRPr sz="1300">
                <a:solidFill>
                  <a:srgbClr val="A5D6A7"/>
                </a:solidFill>
                <a:latin typeface="Consolas"/>
              </a:defRPr>
            </a:pPr>
            <a:r>
              <a:rPr sz="900" dirty="0"/>
              <a:t>    </a:t>
            </a:r>
          </a:p>
          <a:p>
            <a:pPr>
              <a:spcAft>
                <a:spcPts val="200"/>
              </a:spcAft>
              <a:defRPr sz="1300">
                <a:solidFill>
                  <a:srgbClr val="A5D6A7"/>
                </a:solidFill>
                <a:latin typeface="Consolas"/>
              </a:defRPr>
            </a:pPr>
            <a:r>
              <a:rPr sz="900" dirty="0"/>
              <a:t>    // </a:t>
            </a:r>
            <a:r>
              <a:rPr sz="900" dirty="0" err="1"/>
              <a:t>Dịch</a:t>
            </a:r>
            <a:r>
              <a:rPr sz="900" dirty="0"/>
              <a:t> </a:t>
            </a:r>
            <a:r>
              <a:rPr sz="900" dirty="0" err="1"/>
              <a:t>chuyển</a:t>
            </a:r>
            <a:r>
              <a:rPr sz="900" dirty="0"/>
              <a:t> </a:t>
            </a:r>
            <a:r>
              <a:rPr sz="900" dirty="0" err="1"/>
              <a:t>phần</a:t>
            </a:r>
            <a:r>
              <a:rPr sz="900" dirty="0"/>
              <a:t> </a:t>
            </a:r>
            <a:r>
              <a:rPr sz="900" dirty="0" err="1"/>
              <a:t>tử</a:t>
            </a:r>
            <a:r>
              <a:rPr sz="900" dirty="0"/>
              <a:t> sang </a:t>
            </a:r>
            <a:r>
              <a:rPr sz="900" dirty="0" err="1"/>
              <a:t>trái</a:t>
            </a:r>
            <a:r>
              <a:rPr sz="900" dirty="0"/>
              <a:t> → O(n)</a:t>
            </a:r>
          </a:p>
          <a:p>
            <a:pPr>
              <a:spcAft>
                <a:spcPts val="200"/>
              </a:spcAft>
              <a:defRPr sz="1300">
                <a:solidFill>
                  <a:srgbClr val="A5D6A7"/>
                </a:solidFill>
                <a:latin typeface="Consolas"/>
              </a:defRPr>
            </a:pPr>
            <a:r>
              <a:rPr sz="900" dirty="0"/>
              <a:t>    FOR </a:t>
            </a:r>
            <a:r>
              <a:rPr sz="900" dirty="0" err="1"/>
              <a:t>i</a:t>
            </a:r>
            <a:r>
              <a:rPr sz="900" dirty="0"/>
              <a:t> = </a:t>
            </a:r>
            <a:r>
              <a:rPr sz="900" dirty="0" err="1"/>
              <a:t>viTri</a:t>
            </a:r>
            <a:r>
              <a:rPr sz="900" dirty="0"/>
              <a:t> TO </a:t>
            </a:r>
            <a:r>
              <a:rPr sz="900" dirty="0" err="1"/>
              <a:t>kichThuoc</a:t>
            </a:r>
            <a:r>
              <a:rPr sz="900" dirty="0"/>
              <a:t> - 2:</a:t>
            </a:r>
          </a:p>
          <a:p>
            <a:pPr>
              <a:spcAft>
                <a:spcPts val="200"/>
              </a:spcAft>
              <a:defRPr sz="1300">
                <a:solidFill>
                  <a:srgbClr val="A5D6A7"/>
                </a:solidFill>
                <a:latin typeface="Consolas"/>
              </a:defRPr>
            </a:pPr>
            <a:r>
              <a:rPr sz="900" dirty="0"/>
              <a:t>        </a:t>
            </a:r>
            <a:r>
              <a:rPr sz="900" dirty="0" err="1"/>
              <a:t>duLieu</a:t>
            </a:r>
            <a:r>
              <a:rPr sz="900" dirty="0"/>
              <a:t>[</a:t>
            </a:r>
            <a:r>
              <a:rPr sz="900" dirty="0" err="1"/>
              <a:t>i</a:t>
            </a:r>
            <a:r>
              <a:rPr sz="900" dirty="0"/>
              <a:t>] = </a:t>
            </a:r>
            <a:r>
              <a:rPr sz="900" dirty="0" err="1"/>
              <a:t>duLieu</a:t>
            </a:r>
            <a:r>
              <a:rPr sz="900" dirty="0"/>
              <a:t>[</a:t>
            </a:r>
            <a:r>
              <a:rPr sz="900" dirty="0" err="1"/>
              <a:t>i</a:t>
            </a:r>
            <a:r>
              <a:rPr sz="900" dirty="0"/>
              <a:t> + 1]</a:t>
            </a:r>
          </a:p>
          <a:p>
            <a:pPr>
              <a:spcAft>
                <a:spcPts val="200"/>
              </a:spcAft>
              <a:defRPr sz="1300">
                <a:solidFill>
                  <a:srgbClr val="A5D6A7"/>
                </a:solidFill>
                <a:latin typeface="Consolas"/>
              </a:defRPr>
            </a:pPr>
            <a:r>
              <a:rPr sz="900" dirty="0"/>
              <a:t>    END FOR</a:t>
            </a:r>
          </a:p>
          <a:p>
            <a:pPr>
              <a:spcAft>
                <a:spcPts val="200"/>
              </a:spcAft>
              <a:defRPr sz="1300">
                <a:solidFill>
                  <a:srgbClr val="A5D6A7"/>
                </a:solidFill>
                <a:latin typeface="Consolas"/>
              </a:defRPr>
            </a:pPr>
            <a:r>
              <a:rPr sz="900" dirty="0"/>
              <a:t>    </a:t>
            </a:r>
          </a:p>
          <a:p>
            <a:pPr>
              <a:spcAft>
                <a:spcPts val="200"/>
              </a:spcAft>
              <a:defRPr sz="1300">
                <a:solidFill>
                  <a:srgbClr val="A5D6A7"/>
                </a:solidFill>
                <a:latin typeface="Consolas"/>
              </a:defRPr>
            </a:pPr>
            <a:r>
              <a:rPr sz="900" dirty="0"/>
              <a:t>    </a:t>
            </a:r>
            <a:r>
              <a:rPr sz="900" dirty="0" err="1"/>
              <a:t>kichThuoc</a:t>
            </a:r>
            <a:r>
              <a:rPr sz="900" dirty="0"/>
              <a:t> = </a:t>
            </a:r>
            <a:r>
              <a:rPr sz="900" dirty="0" err="1"/>
              <a:t>kichThuoc</a:t>
            </a:r>
            <a:r>
              <a:rPr sz="900" dirty="0"/>
              <a:t> - 1</a:t>
            </a:r>
          </a:p>
          <a:p>
            <a:pPr>
              <a:spcAft>
                <a:spcPts val="200"/>
              </a:spcAft>
              <a:defRPr sz="1300">
                <a:solidFill>
                  <a:srgbClr val="A5D6A7"/>
                </a:solidFill>
                <a:latin typeface="Consolas"/>
              </a:defRPr>
            </a:pPr>
            <a:r>
              <a:rPr sz="900" dirty="0"/>
              <a:t>    </a:t>
            </a:r>
          </a:p>
          <a:p>
            <a:pPr>
              <a:spcAft>
                <a:spcPts val="200"/>
              </a:spcAft>
              <a:defRPr sz="1300">
                <a:solidFill>
                  <a:srgbClr val="A5D6A7"/>
                </a:solidFill>
                <a:latin typeface="Consolas"/>
              </a:defRPr>
            </a:pPr>
            <a:r>
              <a:rPr sz="900" dirty="0"/>
              <a:t>    // Thu </a:t>
            </a:r>
            <a:r>
              <a:rPr sz="900" dirty="0" err="1"/>
              <a:t>nhỏ</a:t>
            </a:r>
            <a:r>
              <a:rPr sz="900" dirty="0"/>
              <a:t> </a:t>
            </a:r>
            <a:r>
              <a:rPr sz="900" dirty="0" err="1"/>
              <a:t>nếu</a:t>
            </a:r>
            <a:r>
              <a:rPr sz="900" dirty="0"/>
              <a:t> </a:t>
            </a:r>
            <a:r>
              <a:rPr sz="900" dirty="0" err="1"/>
              <a:t>dùng</a:t>
            </a:r>
            <a:r>
              <a:rPr sz="900" dirty="0"/>
              <a:t> &lt; 25% dung </a:t>
            </a:r>
            <a:r>
              <a:rPr sz="900" dirty="0" err="1"/>
              <a:t>lượng</a:t>
            </a:r>
            <a:endParaRPr sz="900" dirty="0"/>
          </a:p>
          <a:p>
            <a:pPr>
              <a:spcAft>
                <a:spcPts val="200"/>
              </a:spcAft>
              <a:defRPr sz="1300">
                <a:solidFill>
                  <a:srgbClr val="A5D6A7"/>
                </a:solidFill>
                <a:latin typeface="Consolas"/>
              </a:defRPr>
            </a:pPr>
            <a:r>
              <a:rPr sz="900" dirty="0"/>
              <a:t>    IF </a:t>
            </a:r>
            <a:r>
              <a:rPr sz="900" dirty="0" err="1"/>
              <a:t>kichThuoc</a:t>
            </a:r>
            <a:r>
              <a:rPr sz="900" dirty="0"/>
              <a:t> &lt; </a:t>
            </a:r>
            <a:r>
              <a:rPr sz="900" dirty="0" err="1"/>
              <a:t>dungLuong</a:t>
            </a:r>
            <a:r>
              <a:rPr sz="900" dirty="0"/>
              <a:t> / 4 AND </a:t>
            </a:r>
            <a:r>
              <a:rPr sz="900" dirty="0" err="1"/>
              <a:t>dungLuong</a:t>
            </a:r>
            <a:r>
              <a:rPr sz="900" dirty="0"/>
              <a:t> &gt; 4 THEN</a:t>
            </a:r>
          </a:p>
          <a:p>
            <a:pPr>
              <a:spcAft>
                <a:spcPts val="200"/>
              </a:spcAft>
              <a:defRPr sz="1300">
                <a:solidFill>
                  <a:srgbClr val="A5D6A7"/>
                </a:solidFill>
                <a:latin typeface="Consolas"/>
              </a:defRPr>
            </a:pPr>
            <a:r>
              <a:rPr sz="900" dirty="0"/>
              <a:t>        _</a:t>
            </a:r>
            <a:r>
              <a:rPr sz="900" dirty="0" err="1"/>
              <a:t>thayDoiKichThuoc</a:t>
            </a:r>
            <a:r>
              <a:rPr sz="900" dirty="0"/>
              <a:t>(</a:t>
            </a:r>
            <a:r>
              <a:rPr sz="900" dirty="0" err="1"/>
              <a:t>dungLuong</a:t>
            </a:r>
            <a:r>
              <a:rPr sz="900" dirty="0"/>
              <a:t> / 2)</a:t>
            </a:r>
          </a:p>
          <a:p>
            <a:pPr>
              <a:spcAft>
                <a:spcPts val="200"/>
              </a:spcAft>
              <a:defRPr sz="1300">
                <a:solidFill>
                  <a:srgbClr val="A5D6A7"/>
                </a:solidFill>
                <a:latin typeface="Consolas"/>
              </a:defRPr>
            </a:pPr>
            <a:r>
              <a:rPr sz="900" dirty="0"/>
              <a:t>    END IF</a:t>
            </a:r>
          </a:p>
          <a:p>
            <a:pPr>
              <a:spcAft>
                <a:spcPts val="200"/>
              </a:spcAft>
              <a:defRPr sz="1300">
                <a:solidFill>
                  <a:srgbClr val="A5D6A7"/>
                </a:solidFill>
                <a:latin typeface="Consolas"/>
              </a:defRPr>
            </a:pPr>
            <a:r>
              <a:rPr sz="900" dirty="0"/>
              <a:t>    </a:t>
            </a:r>
          </a:p>
          <a:p>
            <a:pPr>
              <a:spcAft>
                <a:spcPts val="200"/>
              </a:spcAft>
              <a:defRPr sz="1300">
                <a:solidFill>
                  <a:srgbClr val="A5D6A7"/>
                </a:solidFill>
                <a:latin typeface="Consolas"/>
              </a:defRPr>
            </a:pPr>
            <a:r>
              <a:rPr sz="900" dirty="0"/>
              <a:t>    RETURN </a:t>
            </a:r>
            <a:r>
              <a:rPr sz="900" dirty="0" err="1"/>
              <a:t>phanTuDaXoa</a:t>
            </a:r>
            <a:endParaRPr sz="900" dirty="0"/>
          </a:p>
          <a:p>
            <a:pPr>
              <a:spcAft>
                <a:spcPts val="200"/>
              </a:spcAft>
              <a:defRPr sz="1300">
                <a:solidFill>
                  <a:srgbClr val="A5D6A7"/>
                </a:solidFill>
                <a:latin typeface="Consolas"/>
              </a:defRPr>
            </a:pPr>
            <a:r>
              <a:rPr sz="900" dirty="0"/>
              <a:t>END FUNCTION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783080"/>
            <a:ext cx="3931920" cy="38862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0" y="1783080"/>
            <a:ext cx="3931920" cy="45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0" y="189280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62828"/>
                </a:solidFill>
                <a:latin typeface="Segoe UI"/>
              </a:defRPr>
            </a:pPr>
            <a:r>
              <a:t>Minh họa xóa tại vị trí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2240280"/>
            <a:ext cx="35661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Consolas"/>
              </a:defRPr>
            </a:pPr>
            <a:r>
              <a:t>Trước: [A][B][C][D][E]</a:t>
            </a:r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Consolas"/>
              </a:defRPr>
            </a:pPr>
            <a:r>
              <a:t>B1: Xóa phần tử C tại vị trí 2</a:t>
            </a:r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Consolas"/>
              </a:defRPr>
            </a:pPr>
            <a:r>
              <a:t>B2: Dịch D sang vị trí 2</a:t>
            </a:r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Consolas"/>
              </a:defRPr>
            </a:pPr>
            <a:r>
              <a:t>B3: Dịch E sang vị trí 3</a:t>
            </a:r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Consolas"/>
              </a:defRPr>
            </a:pPr>
            <a:r>
              <a:t>Sau:  [A][B][D][E][ ]</a:t>
            </a:r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Consolas"/>
              </a:defRPr>
            </a:pPr>
            <a:r>
              <a:t>Số lần dịch: n - viTri - 1</a:t>
            </a:r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Consolas"/>
              </a:defRPr>
            </a:pPr>
            <a:r>
              <a:t>  Xóa đầu → dịch n-1 lần</a:t>
            </a:r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Consolas"/>
              </a:defRPr>
            </a:pPr>
            <a:r>
              <a:t>  Xóa cuối → dịch 0 lần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69671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49C7"/>
                </a:solidFill>
                <a:latin typeface="Segoe UI"/>
              </a:defRPr>
            </a:pPr>
            <a:r>
              <a:t>⏱️ Độ phức tạp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63640"/>
            <a:ext cx="2286000" cy="36576"/>
          </a:xfrm>
          <a:prstGeom prst="rect">
            <a:avLst/>
          </a:prstGeom>
          <a:solidFill>
            <a:srgbClr val="304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063988"/>
              </p:ext>
            </p:extLst>
          </p:nvPr>
        </p:nvGraphicFramePr>
        <p:xfrm>
          <a:off x="4562947" y="5571182"/>
          <a:ext cx="7628749" cy="1314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3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8563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Vị trí xóa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 err="1"/>
                        <a:t>Tốt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nhất</a:t>
                      </a:r>
                      <a:endParaRPr dirty="0"/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 err="1"/>
                        <a:t>Xấu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nhất</a:t>
                      </a:r>
                      <a:endParaRPr dirty="0"/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Trung bình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563"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rPr dirty="0" err="1"/>
                        <a:t>Cuối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mảng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rPr dirty="0"/>
                        <a:t>O(1)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563"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Đầu mảng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rPr dirty="0"/>
                        <a:t>O(n)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563"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Vị trí bất kỳ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rPr dirty="0"/>
                        <a:t>O(n)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04c. THUẬT TOÁN THAY ĐỔI KÍCH THƯỚC (Resize)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49C7"/>
                </a:solidFill>
                <a:latin typeface="Segoe UI"/>
              </a:defRPr>
            </a:pPr>
            <a:r>
              <a:t>📝 Mã giả (Pseudocode)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2286000" cy="36576"/>
          </a:xfrm>
          <a:prstGeom prst="rect">
            <a:avLst/>
          </a:prstGeom>
          <a:solidFill>
            <a:srgbClr val="304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6400800" cy="2560320"/>
          </a:xfrm>
          <a:prstGeom prst="round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6035040" cy="2405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FUNCTION _</a:t>
            </a:r>
            <a:r>
              <a:rPr sz="1100" dirty="0" err="1"/>
              <a:t>thayDoiKichThuoc</a:t>
            </a:r>
            <a:r>
              <a:rPr sz="1100" dirty="0"/>
              <a:t>(</a:t>
            </a:r>
            <a:r>
              <a:rPr sz="1100" dirty="0" err="1"/>
              <a:t>dungLuongMoi</a:t>
            </a:r>
            <a:r>
              <a:rPr sz="1100" dirty="0"/>
              <a:t>):</a:t>
            </a:r>
          </a:p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    </a:t>
            </a:r>
            <a:r>
              <a:rPr sz="1100" dirty="0" err="1"/>
              <a:t>mangMoi</a:t>
            </a:r>
            <a:r>
              <a:rPr sz="1100" dirty="0"/>
              <a:t> = NEW Array(</a:t>
            </a:r>
            <a:r>
              <a:rPr sz="1100" dirty="0" err="1"/>
              <a:t>dungLuongMoi</a:t>
            </a:r>
            <a:r>
              <a:rPr sz="1100" dirty="0"/>
              <a:t>)</a:t>
            </a:r>
          </a:p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    </a:t>
            </a:r>
          </a:p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    // Sao </a:t>
            </a:r>
            <a:r>
              <a:rPr sz="1100" dirty="0" err="1"/>
              <a:t>chép</a:t>
            </a:r>
            <a:r>
              <a:rPr sz="1100" dirty="0"/>
              <a:t> </a:t>
            </a:r>
            <a:r>
              <a:rPr sz="1100" dirty="0" err="1"/>
              <a:t>dữ</a:t>
            </a:r>
            <a:r>
              <a:rPr sz="1100" dirty="0"/>
              <a:t> </a:t>
            </a:r>
            <a:r>
              <a:rPr sz="1100" dirty="0" err="1"/>
              <a:t>liệu</a:t>
            </a:r>
            <a:r>
              <a:rPr sz="1100" dirty="0"/>
              <a:t> → O(n)</a:t>
            </a:r>
          </a:p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    FOR </a:t>
            </a:r>
            <a:r>
              <a:rPr sz="1100" dirty="0" err="1"/>
              <a:t>i</a:t>
            </a:r>
            <a:r>
              <a:rPr sz="1100" dirty="0"/>
              <a:t> = 0 TO </a:t>
            </a:r>
            <a:r>
              <a:rPr sz="1100" dirty="0" err="1"/>
              <a:t>kichThuoc</a:t>
            </a:r>
            <a:r>
              <a:rPr sz="1100" dirty="0"/>
              <a:t> - 1:</a:t>
            </a:r>
          </a:p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        </a:t>
            </a:r>
            <a:r>
              <a:rPr sz="1100" dirty="0" err="1"/>
              <a:t>mangMoi</a:t>
            </a:r>
            <a:r>
              <a:rPr sz="1100" dirty="0"/>
              <a:t>[</a:t>
            </a:r>
            <a:r>
              <a:rPr sz="1100" dirty="0" err="1"/>
              <a:t>i</a:t>
            </a:r>
            <a:r>
              <a:rPr sz="1100" dirty="0"/>
              <a:t>] = </a:t>
            </a:r>
            <a:r>
              <a:rPr sz="1100" dirty="0" err="1"/>
              <a:t>duLieu</a:t>
            </a:r>
            <a:r>
              <a:rPr sz="1100" dirty="0"/>
              <a:t>[</a:t>
            </a:r>
            <a:r>
              <a:rPr sz="1100" dirty="0" err="1"/>
              <a:t>i</a:t>
            </a:r>
            <a:r>
              <a:rPr sz="1100" dirty="0"/>
              <a:t>]</a:t>
            </a:r>
          </a:p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    END FOR</a:t>
            </a:r>
          </a:p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    </a:t>
            </a:r>
          </a:p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    </a:t>
            </a:r>
            <a:r>
              <a:rPr sz="1100" dirty="0" err="1"/>
              <a:t>duLieu</a:t>
            </a:r>
            <a:r>
              <a:rPr sz="1100" dirty="0"/>
              <a:t> = </a:t>
            </a:r>
            <a:r>
              <a:rPr sz="1100" dirty="0" err="1"/>
              <a:t>mangMoi</a:t>
            </a:r>
            <a:endParaRPr sz="1100" dirty="0"/>
          </a:p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    </a:t>
            </a:r>
            <a:r>
              <a:rPr sz="1100" dirty="0" err="1"/>
              <a:t>dungLuong</a:t>
            </a:r>
            <a:r>
              <a:rPr sz="1100" dirty="0"/>
              <a:t> = </a:t>
            </a:r>
            <a:r>
              <a:rPr sz="1100" dirty="0" err="1"/>
              <a:t>dungLuongMoi</a:t>
            </a:r>
            <a:endParaRPr sz="1100" dirty="0"/>
          </a:p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    </a:t>
            </a:r>
            <a:r>
              <a:rPr sz="1100" dirty="0" err="1"/>
              <a:t>soLanThayDoi</a:t>
            </a:r>
            <a:r>
              <a:rPr sz="1100" dirty="0"/>
              <a:t> = </a:t>
            </a:r>
            <a:r>
              <a:rPr sz="1100" dirty="0" err="1"/>
              <a:t>soLanThayDoi</a:t>
            </a:r>
            <a:r>
              <a:rPr sz="1100" dirty="0"/>
              <a:t> + 1</a:t>
            </a:r>
          </a:p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END FUNCTION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783080"/>
            <a:ext cx="4389120" cy="256032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1783080"/>
            <a:ext cx="4389120" cy="4572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0" y="189280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A1B9A"/>
                </a:solidFill>
                <a:latin typeface="Segoe UI"/>
              </a:defRPr>
            </a:pPr>
            <a:r>
              <a:t>Đặc điểm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0" y="2240280"/>
            <a:ext cx="4023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r>
              <a:t>• Cấp phát mảng mới với kích thước mới</a:t>
            </a:r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r>
              <a:t>• Sao chép toàn bộ phần tử cũ sang mảng mới</a:t>
            </a:r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r>
              <a:t>• Giải phóng mảng cũ (GC tự động)</a:t>
            </a:r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r>
              <a:t>• Độ phức tạp: O(n) thời gian, O(n) không gian</a:t>
            </a:r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r>
              <a:t>Khi nào gọi:</a:t>
            </a:r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r>
              <a:t>  • Mở rộng: kichThuoc &gt;= dungLuong</a:t>
            </a:r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r>
              <a:t>  • Thu nhỏ: kichThuoc &lt; dungLuong/4</a:t>
            </a:r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r>
              <a:t>  • Tối thiểu: dungLuong &gt;=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49C7"/>
                </a:solidFill>
                <a:latin typeface="Segoe UI"/>
              </a:defRPr>
            </a:pPr>
            <a:r>
              <a:t>📊 Lịch sử Resize khi thêm liên tục 20 phần tử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83480"/>
            <a:ext cx="2286000" cy="36576"/>
          </a:xfrm>
          <a:prstGeom prst="rect">
            <a:avLst/>
          </a:prstGeom>
          <a:solidFill>
            <a:srgbClr val="304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5029200"/>
          <a:ext cx="104241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Lần resize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Phần tử thứ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Dung lượng cũ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Dung lượng mới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Số phần tử sao chép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#1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#2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#3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Segoe UI"/>
              </a:defRPr>
            </a:pPr>
            <a:r>
              <a:t>→ Chỉ 3 lần resize cho 20 lần thêm! Tổng chi phí sao chép = 4 + 8 + 16 = 28, trung bình = 28/20 ≈ 1.4 = O(1)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05. THUẬT TOÁN TÌM KIẾM TUYẾN TÍNH (Linear Search)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49C7"/>
                </a:solidFill>
                <a:latin typeface="Segoe UI"/>
              </a:defRPr>
            </a:pPr>
            <a:r>
              <a:t>📝 Mã giả - Tìm vị trí theo điều kiện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2286000" cy="36576"/>
          </a:xfrm>
          <a:prstGeom prst="rect">
            <a:avLst/>
          </a:prstGeom>
          <a:solidFill>
            <a:srgbClr val="304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943600" cy="2011680"/>
          </a:xfrm>
          <a:prstGeom prst="round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851660"/>
            <a:ext cx="5577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r>
              <a:rPr dirty="0"/>
              <a:t>FUNCTION </a:t>
            </a:r>
            <a:r>
              <a:rPr dirty="0" err="1"/>
              <a:t>timViTri</a:t>
            </a:r>
            <a:r>
              <a:rPr dirty="0"/>
              <a:t>(</a:t>
            </a:r>
            <a:r>
              <a:rPr dirty="0" err="1"/>
              <a:t>dieuKien</a:t>
            </a:r>
            <a:r>
              <a:rPr dirty="0"/>
              <a:t>):</a:t>
            </a:r>
          </a:p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r>
              <a:rPr dirty="0"/>
              <a:t>    FOR </a:t>
            </a:r>
            <a:r>
              <a:rPr dirty="0" err="1"/>
              <a:t>i</a:t>
            </a:r>
            <a:r>
              <a:rPr dirty="0"/>
              <a:t> = 0 TO </a:t>
            </a:r>
            <a:r>
              <a:rPr dirty="0" err="1"/>
              <a:t>kichThuoc</a:t>
            </a:r>
            <a:r>
              <a:rPr dirty="0"/>
              <a:t> - 1:</a:t>
            </a:r>
          </a:p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r>
              <a:rPr dirty="0"/>
              <a:t>        IF </a:t>
            </a:r>
            <a:r>
              <a:rPr dirty="0" err="1"/>
              <a:t>dieuKien</a:t>
            </a:r>
            <a:r>
              <a:rPr dirty="0"/>
              <a:t>(</a:t>
            </a:r>
            <a:r>
              <a:rPr dirty="0" err="1"/>
              <a:t>duLieu</a:t>
            </a:r>
            <a:r>
              <a:rPr dirty="0"/>
              <a:t>[</a:t>
            </a:r>
            <a:r>
              <a:rPr dirty="0" err="1"/>
              <a:t>i</a:t>
            </a:r>
            <a:r>
              <a:rPr dirty="0"/>
              <a:t>]) == TRUE THEN</a:t>
            </a:r>
          </a:p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r>
              <a:rPr dirty="0"/>
              <a:t>            RETURN </a:t>
            </a:r>
            <a:r>
              <a:rPr dirty="0" err="1"/>
              <a:t>i</a:t>
            </a:r>
            <a:r>
              <a:rPr dirty="0"/>
              <a:t>          // </a:t>
            </a:r>
            <a:r>
              <a:rPr dirty="0" err="1"/>
              <a:t>Tìm</a:t>
            </a:r>
            <a:r>
              <a:rPr dirty="0"/>
              <a:t> </a:t>
            </a:r>
            <a:r>
              <a:rPr dirty="0" err="1"/>
              <a:t>thấy</a:t>
            </a:r>
            <a:r>
              <a:rPr dirty="0"/>
              <a:t>!</a:t>
            </a:r>
          </a:p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r>
              <a:rPr dirty="0"/>
              <a:t>        END IF</a:t>
            </a:r>
          </a:p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r>
              <a:rPr dirty="0"/>
              <a:t>    END FOR</a:t>
            </a:r>
          </a:p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r>
              <a:rPr dirty="0"/>
              <a:t>    RETURN -1                 //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tìm</a:t>
            </a:r>
            <a:r>
              <a:rPr dirty="0"/>
              <a:t> </a:t>
            </a:r>
            <a:r>
              <a:rPr dirty="0" err="1"/>
              <a:t>thấy</a:t>
            </a:r>
            <a:endParaRPr dirty="0"/>
          </a:p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r>
              <a:rPr dirty="0"/>
              <a:t>END FUNCTION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49C7"/>
                </a:solidFill>
                <a:latin typeface="Segoe UI"/>
              </a:defRPr>
            </a:pPr>
            <a:r>
              <a:t>Tìm kiếm trên nhiều trường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691640"/>
            <a:ext cx="2286000" cy="36576"/>
          </a:xfrm>
          <a:prstGeom prst="rect">
            <a:avLst/>
          </a:prstGeom>
          <a:solidFill>
            <a:srgbClr val="304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58000" y="1783080"/>
            <a:ext cx="4846320" cy="2560320"/>
          </a:xfrm>
          <a:prstGeom prst="round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0" y="1920240"/>
            <a:ext cx="4480560" cy="2467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FUNCTION </a:t>
            </a:r>
            <a:r>
              <a:rPr sz="1100" dirty="0" err="1"/>
              <a:t>timKiemSinhVien</a:t>
            </a:r>
            <a:r>
              <a:rPr sz="1100" dirty="0"/>
              <a:t>(</a:t>
            </a:r>
            <a:r>
              <a:rPr sz="1100" dirty="0" err="1"/>
              <a:t>tuKhoa</a:t>
            </a:r>
            <a:r>
              <a:rPr sz="1100" dirty="0"/>
              <a:t>):</a:t>
            </a:r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    </a:t>
            </a:r>
            <a:r>
              <a:rPr sz="1100" dirty="0" err="1"/>
              <a:t>tuKhoa</a:t>
            </a:r>
            <a:r>
              <a:rPr sz="1100" dirty="0"/>
              <a:t> = </a:t>
            </a:r>
            <a:r>
              <a:rPr sz="1100" dirty="0" err="1"/>
              <a:t>toLowerCase</a:t>
            </a:r>
            <a:r>
              <a:rPr sz="1100" dirty="0"/>
              <a:t>(</a:t>
            </a:r>
            <a:r>
              <a:rPr sz="1100" dirty="0" err="1"/>
              <a:t>tuKhoa</a:t>
            </a:r>
            <a:r>
              <a:rPr sz="1100" dirty="0"/>
              <a:t>)</a:t>
            </a:r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    </a:t>
            </a:r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    RETURN loc(</a:t>
            </a:r>
            <a:r>
              <a:rPr sz="1100" dirty="0" err="1"/>
              <a:t>sv</a:t>
            </a:r>
            <a:r>
              <a:rPr sz="1100" dirty="0"/>
              <a:t> =&gt;</a:t>
            </a:r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        </a:t>
            </a:r>
            <a:r>
              <a:rPr sz="1100" dirty="0" err="1"/>
              <a:t>sv.maSV</a:t>
            </a:r>
            <a:r>
              <a:rPr sz="1100" dirty="0"/>
              <a:t>    </a:t>
            </a:r>
            <a:r>
              <a:rPr sz="1100" dirty="0" err="1"/>
              <a:t>chứa</a:t>
            </a:r>
            <a:r>
              <a:rPr sz="1100" dirty="0"/>
              <a:t> </a:t>
            </a:r>
            <a:r>
              <a:rPr sz="1100" dirty="0" err="1"/>
              <a:t>tuKhoa</a:t>
            </a:r>
            <a:r>
              <a:rPr sz="1100" dirty="0"/>
              <a:t>  OR</a:t>
            </a:r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        </a:t>
            </a:r>
            <a:r>
              <a:rPr sz="1100" dirty="0" err="1"/>
              <a:t>sv.hoTen</a:t>
            </a:r>
            <a:r>
              <a:rPr sz="1100" dirty="0"/>
              <a:t>   </a:t>
            </a:r>
            <a:r>
              <a:rPr sz="1100" dirty="0" err="1"/>
              <a:t>chứa</a:t>
            </a:r>
            <a:r>
              <a:rPr sz="1100" dirty="0"/>
              <a:t> </a:t>
            </a:r>
            <a:r>
              <a:rPr sz="1100" dirty="0" err="1"/>
              <a:t>tuKhoa</a:t>
            </a:r>
            <a:r>
              <a:rPr sz="1100" dirty="0"/>
              <a:t>  OR</a:t>
            </a:r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        </a:t>
            </a:r>
            <a:r>
              <a:rPr sz="1100" dirty="0" err="1"/>
              <a:t>sv.tenLop</a:t>
            </a:r>
            <a:r>
              <a:rPr sz="1100" dirty="0"/>
              <a:t>  </a:t>
            </a:r>
            <a:r>
              <a:rPr sz="1100" dirty="0" err="1"/>
              <a:t>chứa</a:t>
            </a:r>
            <a:r>
              <a:rPr sz="1100" dirty="0"/>
              <a:t> </a:t>
            </a:r>
            <a:r>
              <a:rPr sz="1100" dirty="0" err="1"/>
              <a:t>tuKhoa</a:t>
            </a:r>
            <a:endParaRPr sz="1100" dirty="0"/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    )</a:t>
            </a:r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END FUNCTION</a:t>
            </a:r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endParaRPr sz="1100" dirty="0"/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// </a:t>
            </a:r>
            <a:r>
              <a:rPr sz="1100" dirty="0" err="1"/>
              <a:t>Sử</a:t>
            </a:r>
            <a:r>
              <a:rPr sz="1100" dirty="0"/>
              <a:t> </a:t>
            </a:r>
            <a:r>
              <a:rPr sz="1100" dirty="0" err="1"/>
              <a:t>dụng</a:t>
            </a:r>
            <a:r>
              <a:rPr sz="1100" dirty="0"/>
              <a:t> </a:t>
            </a:r>
            <a:r>
              <a:rPr sz="1100" dirty="0" err="1"/>
              <a:t>String.includes</a:t>
            </a:r>
            <a:r>
              <a:rPr sz="1100" dirty="0"/>
              <a:t>() → O(m)</a:t>
            </a:r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// </a:t>
            </a:r>
            <a:r>
              <a:rPr sz="1100" dirty="0" err="1"/>
              <a:t>Tổng</a:t>
            </a:r>
            <a:r>
              <a:rPr sz="1100" dirty="0"/>
              <a:t>: O(n × m) ≈ O(n)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49C7"/>
                </a:solidFill>
                <a:latin typeface="Segoe UI"/>
              </a:defRPr>
            </a:pPr>
            <a:r>
              <a:t>⚖️ So sánh phương pháp tìm kiếm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526280"/>
            <a:ext cx="2286000" cy="36576"/>
          </a:xfrm>
          <a:prstGeom prst="rect">
            <a:avLst/>
          </a:prstGeom>
          <a:solidFill>
            <a:srgbClr val="304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461772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Phương pháp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Yêu cầu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Độ phức tạp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Phù hợp?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Tìm kiếm tuyến tính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Không yêu cầu sắp xếp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✅ Đang sử dụng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Tìm kiếm nhị phân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Dữ liệu phải sắp xếp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O(log n)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❌ Không phù hợp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Bảng băm (Hash Table)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Cần bộ nhớ thêm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O(1) trung bình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❌ Phức tạp hơn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548640" y="5760720"/>
            <a:ext cx="11155680" cy="77724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5760720"/>
            <a:ext cx="11155680" cy="4572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587044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95C"/>
                </a:solidFill>
                <a:latin typeface="Segoe UI"/>
              </a:defRPr>
            </a:pPr>
            <a:r>
              <a:t>Lý do chọn tìm kiếm tuyến tính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212121"/>
                </a:solidFill>
                <a:latin typeface="Segoe UI"/>
              </a:defRPr>
            </a:pPr>
            <a:r>
              <a:t>• Dữ liệu không được sắp xếp sẵn → không dùng được nhị phân  •  Cần tìm trên nhiều trường (mã, tên, lớp) → tuyến tính linh hoạt hơn  •  Số lượng SV thực tế nhỏ (&lt; 1000) → O(n) đủ nhanh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06. THUẬT TOÁN SẮP XẾP - TimSort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49C7"/>
                </a:solidFill>
                <a:latin typeface="Segoe UI"/>
              </a:defRPr>
            </a:pPr>
            <a:r>
              <a:t>📖 Giới thiệu TimSort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2286000" cy="36576"/>
          </a:xfrm>
          <a:prstGeom prst="rect">
            <a:avLst/>
          </a:prstGeom>
          <a:solidFill>
            <a:srgbClr val="304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86400" cy="22860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5486400" cy="4572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8928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A1B9A"/>
                </a:solidFill>
                <a:latin typeface="Segoe UI"/>
              </a:defRPr>
            </a:pPr>
            <a:r>
              <a:t>Đặc điểm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Segoe UI"/>
              </a:defRPr>
            </a:pPr>
            <a:r>
              <a:t>• Thuật toán lai (Hybrid): Merge Sort + Insertion Sort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Segoe UI"/>
              </a:defRPr>
            </a:pPr>
            <a:r>
              <a:t>• Phát minh: Tim Peters (2002)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Segoe UI"/>
              </a:defRPr>
            </a:pPr>
            <a:r>
              <a:t>• Sử dụng trong: Python, Java, JavaScript Engine (V8)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Segoe UI"/>
              </a:defRPr>
            </a:pPr>
            <a:r>
              <a:t>• Ổn định (Stable Sort): giữ thứ tự phần tử bằng nhau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Segoe UI"/>
              </a:defRPr>
            </a:pPr>
            <a:r>
              <a:t>• Tận dụng các đoạn con đã sắp xếp (natural runs)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Segoe UI"/>
              </a:defRPr>
            </a:pPr>
            <a:r>
              <a:t>• Thuật toán mặc định của Array.prototype.sort()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83080"/>
            <a:ext cx="5303520" cy="22860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5303520" cy="45720"/>
          </a:xfrm>
          <a:prstGeom prst="rect">
            <a:avLst/>
          </a:prstGeom>
          <a:solidFill>
            <a:srgbClr val="304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89280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049C7"/>
                </a:solidFill>
                <a:latin typeface="Segoe UI"/>
              </a:defRPr>
            </a:pPr>
            <a:r>
              <a:t>Nguyên lý hoạt động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402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r>
              <a:t>B1: Chia mảng thành các "run" (đoạn con đã sắp xếp)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r>
              <a:t>B2: Nếu run &lt; minrun (thường 32-64):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r>
              <a:t>      → Dùng Insertion Sort mở rộng run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r>
              <a:t>B3: Merge các run lại theo Merge Sort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r>
              <a:t>B4: Tối ưu: galloping mode cho merge nhanh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endParaRPr/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r>
              <a:t>Ưu điểm: Rất nhanh với dữ liệu gần sắp xếp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49C7"/>
                </a:solidFill>
                <a:latin typeface="Segoe UI"/>
              </a:defRPr>
            </a:pPr>
            <a:r>
              <a:t>💻 Triển khai trong hệ thống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09160"/>
            <a:ext cx="2286000" cy="36576"/>
          </a:xfrm>
          <a:prstGeom prst="rect">
            <a:avLst/>
          </a:prstGeom>
          <a:solidFill>
            <a:srgbClr val="304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640" y="4800600"/>
            <a:ext cx="7315200" cy="1828800"/>
          </a:xfrm>
          <a:prstGeom prst="round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822509"/>
            <a:ext cx="6949440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// </a:t>
            </a:r>
            <a:r>
              <a:rPr sz="1100" dirty="0" err="1"/>
              <a:t>Sắp</a:t>
            </a:r>
            <a:r>
              <a:rPr sz="1100" dirty="0"/>
              <a:t> </a:t>
            </a:r>
            <a:r>
              <a:rPr sz="1100" dirty="0" err="1"/>
              <a:t>xếp</a:t>
            </a:r>
            <a:r>
              <a:rPr sz="1100" dirty="0"/>
              <a:t> </a:t>
            </a:r>
            <a:r>
              <a:rPr sz="1100" dirty="0" err="1"/>
              <a:t>theo</a:t>
            </a:r>
            <a:r>
              <a:rPr sz="1100" dirty="0"/>
              <a:t> </a:t>
            </a:r>
            <a:r>
              <a:rPr sz="1100" dirty="0" err="1"/>
              <a:t>nhiều</a:t>
            </a:r>
            <a:r>
              <a:rPr sz="1100" dirty="0"/>
              <a:t> </a:t>
            </a:r>
            <a:r>
              <a:rPr sz="1100" dirty="0" err="1"/>
              <a:t>trường</a:t>
            </a:r>
            <a:r>
              <a:rPr sz="1100" dirty="0"/>
              <a:t> </a:t>
            </a:r>
            <a:r>
              <a:rPr sz="1100" dirty="0" err="1"/>
              <a:t>với</a:t>
            </a:r>
            <a:r>
              <a:rPr sz="1100" dirty="0"/>
              <a:t> </a:t>
            </a:r>
            <a:r>
              <a:rPr sz="1100" dirty="0" err="1"/>
              <a:t>localeCompare</a:t>
            </a:r>
            <a:r>
              <a:rPr sz="1100" dirty="0"/>
              <a:t> </a:t>
            </a:r>
            <a:r>
              <a:rPr sz="1100" dirty="0" err="1"/>
              <a:t>cho</a:t>
            </a:r>
            <a:r>
              <a:rPr sz="1100" dirty="0"/>
              <a:t> </a:t>
            </a:r>
            <a:r>
              <a:rPr sz="1100" dirty="0" err="1"/>
              <a:t>tiếng</a:t>
            </a:r>
            <a:r>
              <a:rPr sz="1100" dirty="0"/>
              <a:t> Việt</a:t>
            </a:r>
          </a:p>
          <a:p>
            <a:pPr>
              <a:spcAft>
                <a:spcPts val="200"/>
              </a:spcAft>
              <a:defRPr sz="1300">
                <a:solidFill>
                  <a:srgbClr val="A5D6A7"/>
                </a:solidFill>
                <a:latin typeface="Consolas"/>
              </a:defRPr>
            </a:pPr>
            <a:r>
              <a:rPr sz="1100" dirty="0" err="1"/>
              <a:t>daSapXep.sort</a:t>
            </a:r>
            <a:r>
              <a:rPr sz="1100" dirty="0"/>
              <a:t>((a, b) =&gt; {</a:t>
            </a:r>
          </a:p>
          <a:p>
            <a:pPr>
              <a:spcAft>
                <a:spcPts val="200"/>
              </a:spcAft>
              <a:defRPr sz="13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    switch (</a:t>
            </a:r>
            <a:r>
              <a:rPr sz="1100" dirty="0" err="1"/>
              <a:t>truongSapXep</a:t>
            </a:r>
            <a:r>
              <a:rPr sz="1100" dirty="0"/>
              <a:t>) {</a:t>
            </a:r>
          </a:p>
          <a:p>
            <a:pPr>
              <a:spcAft>
                <a:spcPts val="200"/>
              </a:spcAft>
              <a:defRPr sz="13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        case '</a:t>
            </a:r>
            <a:r>
              <a:rPr sz="1100" dirty="0" err="1"/>
              <a:t>hoTen</a:t>
            </a:r>
            <a:r>
              <a:rPr sz="1100" dirty="0"/>
              <a:t>': return </a:t>
            </a:r>
            <a:r>
              <a:rPr sz="1100" dirty="0" err="1"/>
              <a:t>a.hoTen.localeCompare</a:t>
            </a:r>
            <a:r>
              <a:rPr sz="1100" dirty="0"/>
              <a:t>(</a:t>
            </a:r>
            <a:r>
              <a:rPr sz="1100" dirty="0" err="1"/>
              <a:t>b.hoTen</a:t>
            </a:r>
            <a:r>
              <a:rPr sz="1100" dirty="0"/>
              <a:t>, 'vi'); // </a:t>
            </a:r>
            <a:r>
              <a:rPr sz="1100" dirty="0" err="1"/>
              <a:t>Tiếng</a:t>
            </a:r>
            <a:r>
              <a:rPr sz="1100" dirty="0"/>
              <a:t> Việt</a:t>
            </a:r>
          </a:p>
          <a:p>
            <a:pPr>
              <a:spcAft>
                <a:spcPts val="200"/>
              </a:spcAft>
              <a:defRPr sz="13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        case '</a:t>
            </a:r>
            <a:r>
              <a:rPr sz="1100" dirty="0" err="1"/>
              <a:t>diemTB</a:t>
            </a:r>
            <a:r>
              <a:rPr sz="1100" dirty="0"/>
              <a:t>': return </a:t>
            </a:r>
            <a:r>
              <a:rPr sz="1100" dirty="0" err="1"/>
              <a:t>a.diemTB</a:t>
            </a:r>
            <a:r>
              <a:rPr sz="1100" dirty="0"/>
              <a:t> - </a:t>
            </a:r>
            <a:r>
              <a:rPr sz="1100" dirty="0" err="1"/>
              <a:t>b.diemTB</a:t>
            </a:r>
            <a:r>
              <a:rPr sz="1100" dirty="0"/>
              <a:t>;                 // </a:t>
            </a:r>
            <a:r>
              <a:rPr sz="1100" dirty="0" err="1"/>
              <a:t>Số</a:t>
            </a:r>
            <a:endParaRPr sz="1100" dirty="0"/>
          </a:p>
          <a:p>
            <a:pPr>
              <a:spcAft>
                <a:spcPts val="200"/>
              </a:spcAft>
              <a:defRPr sz="13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        case '</a:t>
            </a:r>
            <a:r>
              <a:rPr sz="1100" dirty="0" err="1"/>
              <a:t>maSV</a:t>
            </a:r>
            <a:r>
              <a:rPr sz="1100" dirty="0"/>
              <a:t>':   return </a:t>
            </a:r>
            <a:r>
              <a:rPr sz="1100" dirty="0" err="1"/>
              <a:t>a.maSV.localeCompare</a:t>
            </a:r>
            <a:r>
              <a:rPr sz="1100" dirty="0"/>
              <a:t>(</a:t>
            </a:r>
            <a:r>
              <a:rPr sz="1100" dirty="0" err="1"/>
              <a:t>b.maSV</a:t>
            </a:r>
            <a:r>
              <a:rPr sz="1100" dirty="0"/>
              <a:t>);        // </a:t>
            </a:r>
            <a:r>
              <a:rPr sz="1100" dirty="0" err="1"/>
              <a:t>Chuỗi</a:t>
            </a:r>
            <a:endParaRPr sz="1100" dirty="0"/>
          </a:p>
          <a:p>
            <a:pPr>
              <a:spcAft>
                <a:spcPts val="200"/>
              </a:spcAft>
              <a:defRPr sz="13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    }</a:t>
            </a:r>
          </a:p>
          <a:p>
            <a:pPr>
              <a:spcAft>
                <a:spcPts val="200"/>
              </a:spcAft>
              <a:defRPr sz="13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    return </a:t>
            </a:r>
            <a:r>
              <a:rPr sz="1100" dirty="0" err="1"/>
              <a:t>sapXepTangDan</a:t>
            </a:r>
            <a:r>
              <a:rPr sz="1100" dirty="0"/>
              <a:t> ? </a:t>
            </a:r>
            <a:r>
              <a:rPr sz="1100" dirty="0" err="1"/>
              <a:t>ketQua</a:t>
            </a:r>
            <a:r>
              <a:rPr sz="1100" dirty="0"/>
              <a:t> : -</a:t>
            </a:r>
            <a:r>
              <a:rPr sz="1100" dirty="0" err="1"/>
              <a:t>ketQua</a:t>
            </a:r>
            <a:r>
              <a:rPr sz="1100" dirty="0"/>
              <a:t>;  // </a:t>
            </a:r>
            <a:r>
              <a:rPr sz="1100" dirty="0" err="1"/>
              <a:t>Tăng</a:t>
            </a:r>
            <a:r>
              <a:rPr sz="1100" dirty="0"/>
              <a:t>/</a:t>
            </a:r>
            <a:r>
              <a:rPr sz="1100" dirty="0" err="1"/>
              <a:t>Giảm</a:t>
            </a:r>
            <a:r>
              <a:rPr sz="1100" dirty="0"/>
              <a:t> </a:t>
            </a:r>
            <a:r>
              <a:rPr sz="1100" dirty="0" err="1"/>
              <a:t>dần</a:t>
            </a:r>
            <a:endParaRPr sz="1100" dirty="0"/>
          </a:p>
          <a:p>
            <a:pPr>
              <a:spcAft>
                <a:spcPts val="200"/>
              </a:spcAft>
              <a:defRPr sz="13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});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4297680"/>
            <a:ext cx="3566160" cy="233172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38160" y="4297680"/>
            <a:ext cx="3566160" cy="45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0" y="44074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62828"/>
                </a:solidFill>
                <a:latin typeface="Segoe UI"/>
              </a:defRPr>
            </a:pPr>
            <a:r>
              <a:t>Độ phức tạp TimSort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754880"/>
            <a:ext cx="32004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Consolas"/>
              </a:defRPr>
            </a:pPr>
            <a:r>
              <a:t>Tốt nhất:    O(n)</a:t>
            </a:r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Consolas"/>
              </a:defRPr>
            </a:pPr>
            <a:r>
              <a:t>Trung bình:  O(n log n)</a:t>
            </a:r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Consolas"/>
              </a:defRPr>
            </a:pPr>
            <a:r>
              <a:t>Xấu nhất:    O(n log n)</a:t>
            </a:r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Consolas"/>
              </a:defRPr>
            </a:pPr>
            <a:r>
              <a:t>Không gian:   O(n)</a:t>
            </a:r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Consolas"/>
              </a:defRPr>
            </a:pPr>
            <a:r>
              <a:t>localeCompare('vi'):</a:t>
            </a:r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Consolas"/>
              </a:defRPr>
            </a:pPr>
            <a:r>
              <a:t>→ Sắp xếp đúng: Ă, Â, Đ, Ê, Ô, Ơ, 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07. THUẬT TOÁN LỌC DỮ LIỆU &amp; THỐNG KÊ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49C7"/>
                </a:solidFill>
                <a:latin typeface="Segoe UI"/>
              </a:defRPr>
            </a:pPr>
            <a:r>
              <a:t>🔍 Thuật toán Lọc (Filter)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2286000" cy="36576"/>
          </a:xfrm>
          <a:prstGeom prst="rect">
            <a:avLst/>
          </a:prstGeom>
          <a:solidFill>
            <a:srgbClr val="304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6858000" cy="2011680"/>
          </a:xfrm>
          <a:prstGeom prst="round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6492240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FUNCTION loc(</a:t>
            </a:r>
            <a:r>
              <a:rPr sz="1100" dirty="0" err="1"/>
              <a:t>dieuKien</a:t>
            </a:r>
            <a:r>
              <a:rPr sz="1100" dirty="0"/>
              <a:t>):</a:t>
            </a:r>
          </a:p>
          <a:p>
            <a:pPr>
              <a:spcAft>
                <a:spcPts val="200"/>
              </a:spcAft>
              <a:defRPr sz="13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    </a:t>
            </a:r>
            <a:r>
              <a:rPr sz="1100" dirty="0" err="1"/>
              <a:t>ketQua</a:t>
            </a:r>
            <a:r>
              <a:rPr sz="1100" dirty="0"/>
              <a:t> = []                      // </a:t>
            </a:r>
            <a:r>
              <a:rPr sz="1100" dirty="0" err="1"/>
              <a:t>Mảng</a:t>
            </a:r>
            <a:r>
              <a:rPr sz="1100" dirty="0"/>
              <a:t> </a:t>
            </a:r>
            <a:r>
              <a:rPr sz="1100" dirty="0" err="1"/>
              <a:t>kết</a:t>
            </a:r>
            <a:r>
              <a:rPr sz="1100" dirty="0"/>
              <a:t> </a:t>
            </a:r>
            <a:r>
              <a:rPr sz="1100" dirty="0" err="1"/>
              <a:t>quả</a:t>
            </a:r>
            <a:r>
              <a:rPr sz="1100" dirty="0"/>
              <a:t> </a:t>
            </a:r>
            <a:r>
              <a:rPr sz="1100" dirty="0" err="1"/>
              <a:t>rỗng</a:t>
            </a:r>
            <a:endParaRPr sz="1100" dirty="0"/>
          </a:p>
          <a:p>
            <a:pPr>
              <a:spcAft>
                <a:spcPts val="200"/>
              </a:spcAft>
              <a:defRPr sz="13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    FOR </a:t>
            </a:r>
            <a:r>
              <a:rPr sz="1100" dirty="0" err="1"/>
              <a:t>i</a:t>
            </a:r>
            <a:r>
              <a:rPr sz="1100" dirty="0"/>
              <a:t> = 0 TO </a:t>
            </a:r>
            <a:r>
              <a:rPr sz="1100" dirty="0" err="1"/>
              <a:t>kichThuoc</a:t>
            </a:r>
            <a:r>
              <a:rPr sz="1100" dirty="0"/>
              <a:t> - 1:</a:t>
            </a:r>
          </a:p>
          <a:p>
            <a:pPr>
              <a:spcAft>
                <a:spcPts val="200"/>
              </a:spcAft>
              <a:defRPr sz="13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        IF </a:t>
            </a:r>
            <a:r>
              <a:rPr sz="1100" dirty="0" err="1"/>
              <a:t>dieuKien</a:t>
            </a:r>
            <a:r>
              <a:rPr sz="1100" dirty="0"/>
              <a:t>(</a:t>
            </a:r>
            <a:r>
              <a:rPr sz="1100" dirty="0" err="1"/>
              <a:t>duLieu</a:t>
            </a:r>
            <a:r>
              <a:rPr sz="1100" dirty="0"/>
              <a:t>[</a:t>
            </a:r>
            <a:r>
              <a:rPr sz="1100" dirty="0" err="1"/>
              <a:t>i</a:t>
            </a:r>
            <a:r>
              <a:rPr sz="1100" dirty="0"/>
              <a:t>]) THEN</a:t>
            </a:r>
          </a:p>
          <a:p>
            <a:pPr>
              <a:spcAft>
                <a:spcPts val="200"/>
              </a:spcAft>
              <a:defRPr sz="13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            </a:t>
            </a:r>
            <a:r>
              <a:rPr sz="1100" dirty="0" err="1"/>
              <a:t>ketQua.push</a:t>
            </a:r>
            <a:r>
              <a:rPr sz="1100" dirty="0"/>
              <a:t>(</a:t>
            </a:r>
            <a:r>
              <a:rPr sz="1100" dirty="0" err="1"/>
              <a:t>duLieu</a:t>
            </a:r>
            <a:r>
              <a:rPr sz="1100" dirty="0"/>
              <a:t>[</a:t>
            </a:r>
            <a:r>
              <a:rPr sz="1100" dirty="0" err="1"/>
              <a:t>i</a:t>
            </a:r>
            <a:r>
              <a:rPr sz="1100" dirty="0"/>
              <a:t>])   // </a:t>
            </a:r>
            <a:r>
              <a:rPr sz="1100" dirty="0" err="1"/>
              <a:t>Thêm</a:t>
            </a:r>
            <a:r>
              <a:rPr sz="1100" dirty="0"/>
              <a:t> </a:t>
            </a:r>
            <a:r>
              <a:rPr sz="1100" dirty="0" err="1"/>
              <a:t>phần</a:t>
            </a:r>
            <a:r>
              <a:rPr sz="1100" dirty="0"/>
              <a:t> </a:t>
            </a:r>
            <a:r>
              <a:rPr sz="1100" dirty="0" err="1"/>
              <a:t>tử</a:t>
            </a:r>
            <a:r>
              <a:rPr sz="1100" dirty="0"/>
              <a:t> </a:t>
            </a:r>
            <a:r>
              <a:rPr sz="1100" dirty="0" err="1"/>
              <a:t>thỏa</a:t>
            </a:r>
            <a:r>
              <a:rPr sz="1100" dirty="0"/>
              <a:t> </a:t>
            </a:r>
            <a:r>
              <a:rPr sz="1100" dirty="0" err="1"/>
              <a:t>mãn</a:t>
            </a:r>
            <a:endParaRPr sz="1100" dirty="0"/>
          </a:p>
          <a:p>
            <a:pPr>
              <a:spcAft>
                <a:spcPts val="200"/>
              </a:spcAft>
              <a:defRPr sz="13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        END IF</a:t>
            </a:r>
          </a:p>
          <a:p>
            <a:pPr>
              <a:spcAft>
                <a:spcPts val="200"/>
              </a:spcAft>
              <a:defRPr sz="13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    END FOR</a:t>
            </a:r>
          </a:p>
          <a:p>
            <a:pPr>
              <a:spcAft>
                <a:spcPts val="200"/>
              </a:spcAft>
              <a:defRPr sz="13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    RETURN </a:t>
            </a:r>
            <a:r>
              <a:rPr sz="1100" dirty="0" err="1"/>
              <a:t>ketQua</a:t>
            </a:r>
            <a:r>
              <a:rPr sz="1100" dirty="0"/>
              <a:t>                    // O(n) </a:t>
            </a:r>
            <a:r>
              <a:rPr sz="1100" dirty="0" err="1"/>
              <a:t>thời</a:t>
            </a:r>
            <a:r>
              <a:rPr sz="1100" dirty="0"/>
              <a:t> </a:t>
            </a:r>
            <a:r>
              <a:rPr sz="1100" dirty="0" err="1"/>
              <a:t>gian</a:t>
            </a:r>
            <a:r>
              <a:rPr sz="1100" dirty="0"/>
              <a:t>, O(k) </a:t>
            </a:r>
            <a:r>
              <a:rPr sz="1100" dirty="0" err="1"/>
              <a:t>không</a:t>
            </a:r>
            <a:r>
              <a:rPr sz="1100" dirty="0"/>
              <a:t> </a:t>
            </a:r>
            <a:r>
              <a:rPr sz="1100" dirty="0" err="1"/>
              <a:t>gian</a:t>
            </a:r>
            <a:endParaRPr sz="1100" dirty="0"/>
          </a:p>
          <a:p>
            <a:pPr>
              <a:spcAft>
                <a:spcPts val="200"/>
              </a:spcAft>
              <a:defRPr sz="13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END FUNCTION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280160"/>
            <a:ext cx="3931920" cy="25146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0" y="1280160"/>
            <a:ext cx="3931920" cy="4572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0" y="138988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95C"/>
                </a:solidFill>
                <a:latin typeface="Segoe UI"/>
              </a:defRPr>
            </a:pPr>
            <a:r>
              <a:t>Ứng dụng trong hệ thống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1737360"/>
            <a:ext cx="35661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r>
              <a:t>• locTheoLopHoc(tenLop): lọc SV theo lớp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r>
              <a:t>• demSinhVienDat(): đếm SV có điểm ≥ 5.0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r>
              <a:t>• demSinhVienChuaDat(): đếm SV có điểm &lt; 5.0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r>
              <a:t>• timKiemSinhVien(): lọc theo từ khóa</a:t>
            </a:r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endParaRPr/>
          </a:p>
          <a:p>
            <a:pPr>
              <a:spcAft>
                <a:spcPts val="3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r>
              <a:t>Tất cả đều dùng thuật toán lọc O(n)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49C7"/>
                </a:solidFill>
                <a:latin typeface="Segoe UI"/>
              </a:defRPr>
            </a:pPr>
            <a:r>
              <a:t>📊 Thuật toán Thống kê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434840"/>
            <a:ext cx="2286000" cy="36576"/>
          </a:xfrm>
          <a:prstGeom prst="rect">
            <a:avLst/>
          </a:prstGeom>
          <a:solidFill>
            <a:srgbClr val="304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4526280"/>
            <a:ext cx="7315200" cy="2148840"/>
          </a:xfrm>
          <a:prstGeom prst="round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663440"/>
            <a:ext cx="6949440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// </a:t>
            </a:r>
            <a:r>
              <a:rPr sz="1100" dirty="0" err="1"/>
              <a:t>Tính</a:t>
            </a:r>
            <a:r>
              <a:rPr sz="1100" dirty="0"/>
              <a:t> </a:t>
            </a:r>
            <a:r>
              <a:rPr sz="1100" dirty="0" err="1"/>
              <a:t>điểm</a:t>
            </a:r>
            <a:r>
              <a:rPr sz="1100" dirty="0"/>
              <a:t> </a:t>
            </a:r>
            <a:r>
              <a:rPr sz="1100" dirty="0" err="1"/>
              <a:t>trung</a:t>
            </a:r>
            <a:r>
              <a:rPr sz="1100" dirty="0"/>
              <a:t> </a:t>
            </a:r>
            <a:r>
              <a:rPr sz="1100" dirty="0" err="1"/>
              <a:t>bình</a:t>
            </a:r>
            <a:r>
              <a:rPr sz="1100" dirty="0"/>
              <a:t> </a:t>
            </a:r>
            <a:r>
              <a:rPr sz="1100" dirty="0" err="1"/>
              <a:t>chung</a:t>
            </a:r>
            <a:r>
              <a:rPr sz="1100" dirty="0"/>
              <a:t> → O(n)</a:t>
            </a:r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FUNCTION </a:t>
            </a:r>
            <a:r>
              <a:rPr sz="1100" dirty="0" err="1"/>
              <a:t>tinhDiemTrungBinhChung</a:t>
            </a:r>
            <a:r>
              <a:rPr sz="1100" dirty="0"/>
              <a:t>():</a:t>
            </a:r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    tong = 0</a:t>
            </a:r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    FOR </a:t>
            </a:r>
            <a:r>
              <a:rPr sz="1100" dirty="0" err="1"/>
              <a:t>i</a:t>
            </a:r>
            <a:r>
              <a:rPr sz="1100" dirty="0"/>
              <a:t> = 0 TO </a:t>
            </a:r>
            <a:r>
              <a:rPr sz="1100" dirty="0" err="1"/>
              <a:t>kichThuoc</a:t>
            </a:r>
            <a:r>
              <a:rPr sz="1100" dirty="0"/>
              <a:t> - 1:</a:t>
            </a:r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        tong += </a:t>
            </a:r>
            <a:r>
              <a:rPr sz="1100" dirty="0" err="1"/>
              <a:t>layGiaTri</a:t>
            </a:r>
            <a:r>
              <a:rPr sz="1100" dirty="0"/>
              <a:t>(</a:t>
            </a:r>
            <a:r>
              <a:rPr sz="1100" dirty="0" err="1"/>
              <a:t>i</a:t>
            </a:r>
            <a:r>
              <a:rPr sz="1100" dirty="0"/>
              <a:t>).</a:t>
            </a:r>
            <a:r>
              <a:rPr sz="1100" dirty="0" err="1"/>
              <a:t>diemTB</a:t>
            </a:r>
            <a:endParaRPr sz="1100" dirty="0"/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    END FOR</a:t>
            </a:r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    RETURN tong / </a:t>
            </a:r>
            <a:r>
              <a:rPr sz="1100" dirty="0" err="1"/>
              <a:t>kichThuoc</a:t>
            </a:r>
            <a:endParaRPr sz="1100" dirty="0"/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sz="1100" dirty="0"/>
              <a:t>END FUNCTION</a:t>
            </a:r>
            <a:endParaRPr lang="vi-VN" sz="1100" dirty="0"/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endParaRPr sz="1100" dirty="0"/>
          </a:p>
        </p:txBody>
      </p:sp>
      <p:sp>
        <p:nvSpPr>
          <p:cNvPr id="17" name="Rounded Rectangle 16"/>
          <p:cNvSpPr/>
          <p:nvPr/>
        </p:nvSpPr>
        <p:spPr>
          <a:xfrm>
            <a:off x="8138160" y="4023360"/>
            <a:ext cx="3566160" cy="265176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4023360"/>
            <a:ext cx="3566160" cy="4572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41330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F00"/>
                </a:solidFill>
                <a:latin typeface="Segoe UI"/>
              </a:defRPr>
            </a:pPr>
            <a:r>
              <a:t>Cấu trúc 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48056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212121"/>
                </a:solidFill>
                <a:latin typeface="Segoe UI"/>
              </a:defRPr>
            </a:pPr>
            <a:r>
              <a:rPr dirty="0"/>
              <a:t>• Set: </a:t>
            </a:r>
            <a:r>
              <a:rPr dirty="0" err="1"/>
              <a:t>tập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trùng</a:t>
            </a:r>
            <a:r>
              <a:rPr dirty="0"/>
              <a:t> </a:t>
            </a:r>
            <a:r>
              <a:rPr dirty="0" err="1"/>
              <a:t>lặp</a:t>
            </a:r>
            <a:endParaRPr dirty="0"/>
          </a:p>
          <a:p>
            <a:pPr>
              <a:spcAft>
                <a:spcPts val="200"/>
              </a:spcAft>
              <a:defRPr sz="1200">
                <a:solidFill>
                  <a:srgbClr val="212121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Nội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sử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</a:t>
            </a:r>
            <a:r>
              <a:rPr dirty="0" err="1"/>
              <a:t>bảng</a:t>
            </a:r>
            <a:r>
              <a:rPr dirty="0"/>
              <a:t> </a:t>
            </a:r>
            <a:r>
              <a:rPr dirty="0" err="1"/>
              <a:t>băm</a:t>
            </a:r>
            <a:r>
              <a:rPr dirty="0"/>
              <a:t> (Hash Table)</a:t>
            </a:r>
          </a:p>
          <a:p>
            <a:pPr>
              <a:spcAft>
                <a:spcPts val="200"/>
              </a:spcAft>
              <a:defRPr sz="1200">
                <a:solidFill>
                  <a:srgbClr val="212121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Thêm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tử</a:t>
            </a:r>
            <a:r>
              <a:rPr dirty="0"/>
              <a:t>: O(1) </a:t>
            </a:r>
            <a:r>
              <a:rPr dirty="0" err="1"/>
              <a:t>trung</a:t>
            </a:r>
            <a:r>
              <a:rPr dirty="0"/>
              <a:t> </a:t>
            </a:r>
            <a:r>
              <a:rPr dirty="0" err="1"/>
              <a:t>bình</a:t>
            </a:r>
            <a:endParaRPr dirty="0"/>
          </a:p>
          <a:p>
            <a:pPr>
              <a:spcAft>
                <a:spcPts val="200"/>
              </a:spcAft>
              <a:defRPr sz="1200">
                <a:solidFill>
                  <a:srgbClr val="212121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tra</a:t>
            </a:r>
            <a:r>
              <a:rPr dirty="0"/>
              <a:t> </a:t>
            </a:r>
            <a:r>
              <a:rPr dirty="0" err="1"/>
              <a:t>tồn</a:t>
            </a:r>
            <a:r>
              <a:rPr dirty="0"/>
              <a:t> </a:t>
            </a:r>
            <a:r>
              <a:rPr dirty="0" err="1"/>
              <a:t>tại</a:t>
            </a:r>
            <a:r>
              <a:rPr dirty="0"/>
              <a:t>: O(1) </a:t>
            </a:r>
            <a:r>
              <a:rPr dirty="0" err="1"/>
              <a:t>trung</a:t>
            </a:r>
            <a:r>
              <a:rPr dirty="0"/>
              <a:t> </a:t>
            </a:r>
            <a:r>
              <a:rPr dirty="0" err="1"/>
              <a:t>bình</a:t>
            </a:r>
            <a:endParaRPr dirty="0"/>
          </a:p>
          <a:p>
            <a:pPr>
              <a:spcAft>
                <a:spcPts val="200"/>
              </a:spcAft>
              <a:defRPr sz="1200">
                <a:solidFill>
                  <a:srgbClr val="212121"/>
                </a:solidFill>
                <a:latin typeface="Segoe UI"/>
              </a:defRPr>
            </a:pPr>
            <a:endParaRPr dirty="0"/>
          </a:p>
          <a:p>
            <a:pPr>
              <a:spcAft>
                <a:spcPts val="200"/>
              </a:spcAft>
              <a:defRPr sz="1200">
                <a:solidFill>
                  <a:srgbClr val="212121"/>
                </a:solidFill>
                <a:latin typeface="Segoe UI"/>
              </a:defRPr>
            </a:pPr>
            <a:r>
              <a:rPr dirty="0" err="1"/>
              <a:t>Độ</a:t>
            </a:r>
            <a:r>
              <a:rPr dirty="0"/>
              <a:t> </a:t>
            </a:r>
            <a:r>
              <a:rPr dirty="0" err="1"/>
              <a:t>phức</a:t>
            </a:r>
            <a:r>
              <a:rPr dirty="0"/>
              <a:t> </a:t>
            </a:r>
            <a:r>
              <a:rPr dirty="0" err="1"/>
              <a:t>tạp</a:t>
            </a:r>
            <a:r>
              <a:rPr dirty="0"/>
              <a:t> </a:t>
            </a:r>
            <a:r>
              <a:rPr dirty="0" err="1"/>
              <a:t>tổng</a:t>
            </a:r>
            <a:r>
              <a:rPr dirty="0"/>
              <a:t>:</a:t>
            </a:r>
          </a:p>
          <a:p>
            <a:pPr>
              <a:spcAft>
                <a:spcPts val="200"/>
              </a:spcAft>
              <a:defRPr sz="1200">
                <a:solidFill>
                  <a:srgbClr val="212121"/>
                </a:solidFill>
                <a:latin typeface="Segoe UI"/>
              </a:defRPr>
            </a:pPr>
            <a:r>
              <a:rPr dirty="0"/>
              <a:t>  </a:t>
            </a:r>
            <a:r>
              <a:rPr dirty="0" err="1"/>
              <a:t>Duyệt</a:t>
            </a:r>
            <a:r>
              <a:rPr dirty="0"/>
              <a:t> n SV: O(n)</a:t>
            </a:r>
          </a:p>
          <a:p>
            <a:pPr>
              <a:spcAft>
                <a:spcPts val="200"/>
              </a:spcAft>
              <a:defRPr sz="1200">
                <a:solidFill>
                  <a:srgbClr val="212121"/>
                </a:solidFill>
                <a:latin typeface="Segoe UI"/>
              </a:defRPr>
            </a:pPr>
            <a:r>
              <a:rPr dirty="0"/>
              <a:t>  Sort k </a:t>
            </a:r>
            <a:r>
              <a:rPr dirty="0" err="1"/>
              <a:t>lớp</a:t>
            </a:r>
            <a:r>
              <a:rPr dirty="0"/>
              <a:t>: O(k log k)</a:t>
            </a:r>
          </a:p>
          <a:p>
            <a:pPr>
              <a:spcAft>
                <a:spcPts val="200"/>
              </a:spcAft>
              <a:defRPr sz="1200">
                <a:solidFill>
                  <a:srgbClr val="212121"/>
                </a:solidFill>
                <a:latin typeface="Segoe UI"/>
              </a:defRPr>
            </a:pPr>
            <a:r>
              <a:rPr dirty="0"/>
              <a:t>  </a:t>
            </a:r>
            <a:r>
              <a:rPr dirty="0" err="1"/>
              <a:t>Tổng</a:t>
            </a:r>
            <a:r>
              <a:rPr dirty="0"/>
              <a:t>: O(n + k log k) ≈ O(n)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FF4A44-A87F-D0E4-6DD6-58E61D75B0F1}"/>
              </a:ext>
            </a:extLst>
          </p:cNvPr>
          <p:cNvSpPr txBox="1"/>
          <p:nvPr/>
        </p:nvSpPr>
        <p:spPr>
          <a:xfrm>
            <a:off x="3640852" y="4727448"/>
            <a:ext cx="6097508" cy="150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lang="en-US" sz="1000" dirty="0"/>
              <a:t>// Danh </a:t>
            </a:r>
            <a:r>
              <a:rPr lang="en-US" sz="1000" dirty="0" err="1"/>
              <a:t>sách</a:t>
            </a:r>
            <a:r>
              <a:rPr lang="en-US" sz="1000" dirty="0"/>
              <a:t> </a:t>
            </a:r>
            <a:r>
              <a:rPr lang="en-US" sz="1000" dirty="0" err="1"/>
              <a:t>lớp</a:t>
            </a:r>
            <a:r>
              <a:rPr lang="en-US" sz="1000" dirty="0"/>
              <a:t> </a:t>
            </a:r>
            <a:r>
              <a:rPr lang="en-US" sz="1000" dirty="0" err="1"/>
              <a:t>duy</a:t>
            </a:r>
            <a:r>
              <a:rPr lang="en-US" sz="1000" dirty="0"/>
              <a:t> </a:t>
            </a:r>
            <a:r>
              <a:rPr lang="en-US" sz="1000" dirty="0" err="1"/>
              <a:t>nhất</a:t>
            </a:r>
            <a:r>
              <a:rPr lang="en-US" sz="1000" dirty="0"/>
              <a:t> → Set + Sort</a:t>
            </a:r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lang="en-US" sz="1000" dirty="0"/>
              <a:t>FUNCTION </a:t>
            </a:r>
            <a:r>
              <a:rPr lang="en-US" sz="1000" dirty="0" err="1"/>
              <a:t>layDanhSachLopDuyNhat</a:t>
            </a:r>
            <a:r>
              <a:rPr lang="en-US" sz="1000" dirty="0"/>
              <a:t>():</a:t>
            </a:r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lang="en-US" sz="1000" dirty="0"/>
              <a:t>    </a:t>
            </a:r>
            <a:r>
              <a:rPr lang="en-US" sz="1000" dirty="0" err="1"/>
              <a:t>danhSachLop</a:t>
            </a:r>
            <a:r>
              <a:rPr lang="en-US" sz="1000" dirty="0"/>
              <a:t> = NEW Set()          // </a:t>
            </a:r>
            <a:r>
              <a:rPr lang="en-US" sz="1000" dirty="0" err="1"/>
              <a:t>Bảng</a:t>
            </a:r>
            <a:r>
              <a:rPr lang="en-US" sz="1000" dirty="0"/>
              <a:t> </a:t>
            </a:r>
            <a:r>
              <a:rPr lang="en-US" sz="1000" dirty="0" err="1"/>
              <a:t>băm</a:t>
            </a:r>
            <a:r>
              <a:rPr lang="en-US" sz="1000" dirty="0"/>
              <a:t> → O(1) </a:t>
            </a:r>
            <a:r>
              <a:rPr lang="en-US" sz="1000" dirty="0" err="1"/>
              <a:t>thêm</a:t>
            </a:r>
            <a:endParaRPr lang="en-US" sz="1000" dirty="0"/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lang="en-US" sz="1000" dirty="0"/>
              <a:t>    FOR </a:t>
            </a:r>
            <a:r>
              <a:rPr lang="en-US" sz="1000" dirty="0" err="1"/>
              <a:t>i</a:t>
            </a:r>
            <a:r>
              <a:rPr lang="en-US" sz="1000" dirty="0"/>
              <a:t> = 0 TO </a:t>
            </a:r>
            <a:r>
              <a:rPr lang="en-US" sz="1000" dirty="0" err="1"/>
              <a:t>kichThuoc</a:t>
            </a:r>
            <a:r>
              <a:rPr lang="en-US" sz="1000" dirty="0"/>
              <a:t> - 1:</a:t>
            </a:r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lang="en-US" sz="1000" dirty="0"/>
              <a:t>        </a:t>
            </a:r>
            <a:r>
              <a:rPr lang="en-US" sz="1000" dirty="0" err="1"/>
              <a:t>danhSachLop.add</a:t>
            </a:r>
            <a:r>
              <a:rPr lang="en-US" sz="1000" dirty="0"/>
              <a:t>(</a:t>
            </a:r>
            <a:r>
              <a:rPr lang="en-US" sz="1000" dirty="0" err="1"/>
              <a:t>tenLop</a:t>
            </a:r>
            <a:r>
              <a:rPr lang="en-US" sz="1000" dirty="0"/>
              <a:t>)      // </a:t>
            </a:r>
            <a:r>
              <a:rPr lang="en-US" sz="1000" dirty="0" err="1"/>
              <a:t>Tự</a:t>
            </a:r>
            <a:r>
              <a:rPr lang="en-US" sz="1000" dirty="0"/>
              <a:t> </a:t>
            </a:r>
            <a:r>
              <a:rPr lang="en-US" sz="1000" dirty="0" err="1"/>
              <a:t>loại</a:t>
            </a:r>
            <a:r>
              <a:rPr lang="en-US" sz="1000" dirty="0"/>
              <a:t> </a:t>
            </a:r>
            <a:r>
              <a:rPr lang="en-US" sz="1000" dirty="0" err="1"/>
              <a:t>trùng</a:t>
            </a:r>
            <a:endParaRPr lang="en-US" sz="1000" dirty="0"/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lang="en-US" sz="1000" dirty="0"/>
              <a:t>    END FOR</a:t>
            </a:r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lang="en-US" sz="1000" dirty="0"/>
              <a:t>    RETURN </a:t>
            </a:r>
            <a:r>
              <a:rPr lang="en-US" sz="1000" dirty="0" err="1"/>
              <a:t>Array.from</a:t>
            </a:r>
            <a:r>
              <a:rPr lang="en-US" sz="1000" dirty="0"/>
              <a:t>(</a:t>
            </a:r>
            <a:r>
              <a:rPr lang="en-US" sz="1000" dirty="0" err="1"/>
              <a:t>danhSachLop</a:t>
            </a:r>
            <a:r>
              <a:rPr lang="en-US" sz="1000" dirty="0"/>
              <a:t>).sort()  // O(k log k)</a:t>
            </a:r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lang="en-US" sz="1000" dirty="0"/>
              <a:t>END FUNCTION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08. THUẬT TOÁN PHÂN TRANG (Pagination)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49C7"/>
                </a:solidFill>
                <a:latin typeface="Segoe UI"/>
              </a:defRPr>
            </a:pPr>
            <a:r>
              <a:t>📝 Mã giả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2286000" cy="36576"/>
          </a:xfrm>
          <a:prstGeom prst="rect">
            <a:avLst/>
          </a:prstGeom>
          <a:solidFill>
            <a:srgbClr val="304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6858000" cy="2926080"/>
          </a:xfrm>
          <a:prstGeom prst="round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6492240" cy="2500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r>
              <a:rPr sz="1050" dirty="0"/>
              <a:t>FUNCTION </a:t>
            </a:r>
            <a:r>
              <a:rPr sz="1050" dirty="0" err="1"/>
              <a:t>layDuLieuTheoTrang</a:t>
            </a:r>
            <a:r>
              <a:rPr sz="1050" dirty="0"/>
              <a:t>(</a:t>
            </a:r>
            <a:r>
              <a:rPr sz="1050" dirty="0" err="1"/>
              <a:t>danhSach</a:t>
            </a:r>
            <a:r>
              <a:rPr sz="1050" dirty="0"/>
              <a:t>):</a:t>
            </a:r>
          </a:p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r>
              <a:rPr sz="1050" dirty="0"/>
              <a:t>    </a:t>
            </a:r>
            <a:r>
              <a:rPr sz="1050" dirty="0" err="1"/>
              <a:t>batDau</a:t>
            </a:r>
            <a:r>
              <a:rPr sz="1050" dirty="0"/>
              <a:t> = (</a:t>
            </a:r>
            <a:r>
              <a:rPr sz="1050" dirty="0" err="1"/>
              <a:t>trangHienTai</a:t>
            </a:r>
            <a:r>
              <a:rPr sz="1050" dirty="0"/>
              <a:t> - 1) × </a:t>
            </a:r>
            <a:r>
              <a:rPr sz="1050" dirty="0" err="1"/>
              <a:t>soDongMoiTrang</a:t>
            </a:r>
            <a:endParaRPr sz="1050" dirty="0"/>
          </a:p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r>
              <a:rPr sz="1050" dirty="0"/>
              <a:t>    </a:t>
            </a:r>
            <a:r>
              <a:rPr sz="1050" dirty="0" err="1"/>
              <a:t>ketThuc</a:t>
            </a:r>
            <a:r>
              <a:rPr sz="1050" dirty="0"/>
              <a:t> = </a:t>
            </a:r>
            <a:r>
              <a:rPr sz="1050" dirty="0" err="1"/>
              <a:t>batDau</a:t>
            </a:r>
            <a:r>
              <a:rPr sz="1050" dirty="0"/>
              <a:t> + </a:t>
            </a:r>
            <a:r>
              <a:rPr sz="1050" dirty="0" err="1"/>
              <a:t>soDongMoiTrang</a:t>
            </a:r>
            <a:endParaRPr sz="1050" dirty="0"/>
          </a:p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r>
              <a:rPr sz="1050" dirty="0"/>
              <a:t>    RETURN </a:t>
            </a:r>
            <a:r>
              <a:rPr sz="1050" dirty="0" err="1"/>
              <a:t>danhSach</a:t>
            </a:r>
            <a:r>
              <a:rPr sz="1050" dirty="0"/>
              <a:t>[</a:t>
            </a:r>
            <a:r>
              <a:rPr sz="1050" dirty="0" err="1"/>
              <a:t>batDau</a:t>
            </a:r>
            <a:r>
              <a:rPr sz="1050" dirty="0"/>
              <a:t> .. </a:t>
            </a:r>
            <a:r>
              <a:rPr sz="1050" dirty="0" err="1"/>
              <a:t>ketThuc</a:t>
            </a:r>
            <a:r>
              <a:rPr sz="1050" dirty="0"/>
              <a:t>]   // </a:t>
            </a:r>
            <a:r>
              <a:rPr sz="1050" dirty="0" err="1"/>
              <a:t>Array.slice</a:t>
            </a:r>
            <a:r>
              <a:rPr sz="1050" dirty="0"/>
              <a:t>()</a:t>
            </a:r>
          </a:p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r>
              <a:rPr sz="1050" dirty="0"/>
              <a:t>END FUNCTION</a:t>
            </a:r>
          </a:p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endParaRPr sz="1050" dirty="0"/>
          </a:p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r>
              <a:rPr sz="1050" dirty="0"/>
              <a:t>FUNCTION </a:t>
            </a:r>
            <a:r>
              <a:rPr sz="1050" dirty="0" err="1"/>
              <a:t>layTongSoTrang</a:t>
            </a:r>
            <a:r>
              <a:rPr sz="1050" dirty="0"/>
              <a:t>(</a:t>
            </a:r>
            <a:r>
              <a:rPr sz="1050" dirty="0" err="1"/>
              <a:t>tongSoPhanTu</a:t>
            </a:r>
            <a:r>
              <a:rPr sz="1050" dirty="0"/>
              <a:t>):</a:t>
            </a:r>
          </a:p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r>
              <a:rPr sz="1050" dirty="0"/>
              <a:t>    RETURN CEIL(</a:t>
            </a:r>
            <a:r>
              <a:rPr sz="1050" dirty="0" err="1"/>
              <a:t>tongSoPhanTu</a:t>
            </a:r>
            <a:r>
              <a:rPr sz="1050" dirty="0"/>
              <a:t> / </a:t>
            </a:r>
            <a:r>
              <a:rPr sz="1050" dirty="0" err="1"/>
              <a:t>soDongMoiTrang</a:t>
            </a:r>
            <a:r>
              <a:rPr sz="1050" dirty="0"/>
              <a:t>)</a:t>
            </a:r>
          </a:p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r>
              <a:rPr sz="1050" dirty="0"/>
              <a:t>END FUNCTION</a:t>
            </a:r>
          </a:p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endParaRPr sz="1050" dirty="0"/>
          </a:p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r>
              <a:rPr sz="1050" dirty="0"/>
              <a:t>// </a:t>
            </a:r>
            <a:r>
              <a:rPr sz="1050" dirty="0" err="1"/>
              <a:t>Ví</a:t>
            </a:r>
            <a:r>
              <a:rPr sz="1050" dirty="0"/>
              <a:t> </a:t>
            </a:r>
            <a:r>
              <a:rPr sz="1050" dirty="0" err="1"/>
              <a:t>dụ</a:t>
            </a:r>
            <a:r>
              <a:rPr sz="1050" dirty="0"/>
              <a:t>: 25 </a:t>
            </a:r>
            <a:r>
              <a:rPr sz="1050" dirty="0" err="1"/>
              <a:t>sinh</a:t>
            </a:r>
            <a:r>
              <a:rPr sz="1050" dirty="0"/>
              <a:t> </a:t>
            </a:r>
            <a:r>
              <a:rPr sz="1050" dirty="0" err="1"/>
              <a:t>viên</a:t>
            </a:r>
            <a:r>
              <a:rPr sz="1050" dirty="0"/>
              <a:t>, 10 </a:t>
            </a:r>
            <a:r>
              <a:rPr sz="1050" dirty="0" err="1"/>
              <a:t>dòng</a:t>
            </a:r>
            <a:r>
              <a:rPr sz="1050" dirty="0"/>
              <a:t>/</a:t>
            </a:r>
            <a:r>
              <a:rPr sz="1050" dirty="0" err="1"/>
              <a:t>trang</a:t>
            </a:r>
            <a:endParaRPr sz="1050" dirty="0"/>
          </a:p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r>
              <a:rPr sz="1050" dirty="0"/>
              <a:t>// Trang 1: SV 0-9, Trang 2: SV 10-19, Trang 3: SV 20-24</a:t>
            </a:r>
          </a:p>
          <a:p>
            <a:pPr>
              <a:spcAft>
                <a:spcPts val="200"/>
              </a:spcAft>
              <a:defRPr sz="1400">
                <a:solidFill>
                  <a:srgbClr val="A5D6A7"/>
                </a:solidFill>
                <a:latin typeface="Consolas"/>
              </a:defRPr>
            </a:pPr>
            <a:r>
              <a:rPr sz="1050" dirty="0"/>
              <a:t>// </a:t>
            </a:r>
            <a:r>
              <a:rPr sz="1050" dirty="0" err="1"/>
              <a:t>Tổng</a:t>
            </a:r>
            <a:r>
              <a:rPr sz="1050" dirty="0"/>
              <a:t>: CEIL(25/10) = 3 </a:t>
            </a:r>
            <a:r>
              <a:rPr sz="1050" dirty="0" err="1"/>
              <a:t>trang</a:t>
            </a:r>
            <a:endParaRPr sz="1050" dirty="0"/>
          </a:p>
        </p:txBody>
      </p:sp>
      <p:sp>
        <p:nvSpPr>
          <p:cNvPr id="9" name="Rounded Rectangle 8"/>
          <p:cNvSpPr/>
          <p:nvPr/>
        </p:nvSpPr>
        <p:spPr>
          <a:xfrm>
            <a:off x="7772400" y="1783080"/>
            <a:ext cx="3931920" cy="292608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0" y="1783080"/>
            <a:ext cx="3931920" cy="45720"/>
          </a:xfrm>
          <a:prstGeom prst="rect">
            <a:avLst/>
          </a:prstGeom>
          <a:solidFill>
            <a:srgbClr val="304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0" y="189280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049C7"/>
                </a:solidFill>
                <a:latin typeface="Segoe UI"/>
              </a:defRPr>
            </a:pPr>
            <a:r>
              <a:t>Đặc điểm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2240280"/>
            <a:ext cx="3566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r>
              <a:t>• Dùng Array.slice() — không thay đổi mảng gốc</a:t>
            </a:r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r>
              <a:t>• Chỉ tạo bản sao k phần tử (k = soDongMoiTrang)</a:t>
            </a:r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r>
              <a:t>Độ phức tạp:</a:t>
            </a:r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r>
              <a:t>  • Thời gian: O(k) với k = số dòng/trang</a:t>
            </a:r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r>
              <a:t>  • Không gian: O(k)</a:t>
            </a:r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r>
              <a:t>Cấu hình mặc định:</a:t>
            </a:r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r>
              <a:t>  • soDongMoiTrang: 10</a:t>
            </a:r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r>
              <a:t>  • Tùy chọn: 5, 10, 20 dòng/trang</a:t>
            </a:r>
          </a:p>
          <a:p>
            <a:pPr>
              <a:spcAft>
                <a:spcPts val="200"/>
              </a:spcAft>
              <a:defRPr sz="1300">
                <a:solidFill>
                  <a:srgbClr val="212121"/>
                </a:solidFill>
                <a:latin typeface="Segoe UI"/>
              </a:defRPr>
            </a:pPr>
            <a:r>
              <a:t>  • Hỗ trợ nút Previous/Next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49C7"/>
                </a:solidFill>
                <a:latin typeface="Segoe UI"/>
              </a:defRPr>
            </a:pPr>
            <a:r>
              <a:t>📋 Thuật toán Xếp loại học lực — O(1)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349240"/>
            <a:ext cx="2286000" cy="36576"/>
          </a:xfrm>
          <a:prstGeom prst="rect">
            <a:avLst/>
          </a:prstGeom>
          <a:solidFill>
            <a:srgbClr val="304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5394960"/>
            <a:ext cx="6858000" cy="1325880"/>
          </a:xfrm>
          <a:prstGeom prst="round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5532120"/>
            <a:ext cx="6492240" cy="113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sz="700" dirty="0"/>
              <a:t>FUNCTION </a:t>
            </a:r>
            <a:r>
              <a:rPr sz="700" dirty="0" err="1"/>
              <a:t>layXepLoai</a:t>
            </a:r>
            <a:r>
              <a:rPr sz="700" dirty="0"/>
              <a:t>():</a:t>
            </a:r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sz="700" dirty="0"/>
              <a:t>    IF </a:t>
            </a:r>
            <a:r>
              <a:rPr sz="700" dirty="0" err="1"/>
              <a:t>diemTB</a:t>
            </a:r>
            <a:r>
              <a:rPr sz="700" dirty="0"/>
              <a:t> &gt;= 9.0 THEN RETURN "</a:t>
            </a:r>
            <a:r>
              <a:rPr sz="700" dirty="0" err="1"/>
              <a:t>Xuất</a:t>
            </a:r>
            <a:r>
              <a:rPr sz="700" dirty="0"/>
              <a:t> </a:t>
            </a:r>
            <a:r>
              <a:rPr sz="700" dirty="0" err="1"/>
              <a:t>sắc</a:t>
            </a:r>
            <a:r>
              <a:rPr sz="700" dirty="0"/>
              <a:t>"</a:t>
            </a:r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sz="700" dirty="0"/>
              <a:t>    IF </a:t>
            </a:r>
            <a:r>
              <a:rPr sz="700" dirty="0" err="1"/>
              <a:t>diemTB</a:t>
            </a:r>
            <a:r>
              <a:rPr sz="700" dirty="0"/>
              <a:t> &gt;= 8.0 THEN RETURN "</a:t>
            </a:r>
            <a:r>
              <a:rPr sz="700" dirty="0" err="1"/>
              <a:t>Giỏi</a:t>
            </a:r>
            <a:r>
              <a:rPr sz="700" dirty="0"/>
              <a:t>"</a:t>
            </a:r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sz="700" dirty="0"/>
              <a:t>    IF </a:t>
            </a:r>
            <a:r>
              <a:rPr sz="700" dirty="0" err="1"/>
              <a:t>diemTB</a:t>
            </a:r>
            <a:r>
              <a:rPr sz="700" dirty="0"/>
              <a:t> &gt;= 6.5 THEN RETURN "</a:t>
            </a:r>
            <a:r>
              <a:rPr sz="700" dirty="0" err="1"/>
              <a:t>Khá</a:t>
            </a:r>
            <a:r>
              <a:rPr sz="700" dirty="0"/>
              <a:t>"</a:t>
            </a:r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sz="700" dirty="0"/>
              <a:t>    IF </a:t>
            </a:r>
            <a:r>
              <a:rPr sz="700" dirty="0" err="1"/>
              <a:t>diemTB</a:t>
            </a:r>
            <a:r>
              <a:rPr sz="700" dirty="0"/>
              <a:t> &gt;= 5.0 THEN RETURN "Trung </a:t>
            </a:r>
            <a:r>
              <a:rPr sz="700" dirty="0" err="1"/>
              <a:t>bình</a:t>
            </a:r>
            <a:r>
              <a:rPr sz="700" dirty="0"/>
              <a:t>"</a:t>
            </a:r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sz="700" dirty="0"/>
              <a:t>    IF </a:t>
            </a:r>
            <a:r>
              <a:rPr sz="700" dirty="0" err="1"/>
              <a:t>diemTB</a:t>
            </a:r>
            <a:r>
              <a:rPr sz="700" dirty="0"/>
              <a:t> &gt;= 3.5 THEN RETURN "</a:t>
            </a:r>
            <a:r>
              <a:rPr sz="700" dirty="0" err="1"/>
              <a:t>Yếu</a:t>
            </a:r>
            <a:r>
              <a:rPr sz="700" dirty="0"/>
              <a:t>"</a:t>
            </a:r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sz="700" dirty="0"/>
              <a:t>    RETURN "</a:t>
            </a:r>
            <a:r>
              <a:rPr sz="700" dirty="0" err="1"/>
              <a:t>Kém</a:t>
            </a:r>
            <a:r>
              <a:rPr sz="700" dirty="0"/>
              <a:t>"   // </a:t>
            </a:r>
            <a:r>
              <a:rPr sz="700" dirty="0" err="1"/>
              <a:t>Tối</a:t>
            </a:r>
            <a:r>
              <a:rPr sz="700" dirty="0"/>
              <a:t> </a:t>
            </a:r>
            <a:r>
              <a:rPr sz="700" dirty="0" err="1"/>
              <a:t>đa</a:t>
            </a:r>
            <a:r>
              <a:rPr sz="700" dirty="0"/>
              <a:t> 6 </a:t>
            </a:r>
            <a:r>
              <a:rPr sz="700" dirty="0" err="1"/>
              <a:t>phép</a:t>
            </a:r>
            <a:r>
              <a:rPr sz="700" dirty="0"/>
              <a:t> so </a:t>
            </a:r>
            <a:r>
              <a:rPr sz="700" dirty="0" err="1"/>
              <a:t>sánh</a:t>
            </a:r>
            <a:r>
              <a:rPr sz="700" dirty="0"/>
              <a:t> → O(1)</a:t>
            </a:r>
          </a:p>
          <a:p>
            <a:pPr>
              <a:spcAft>
                <a:spcPts val="200"/>
              </a:spcAft>
              <a:defRPr sz="1200">
                <a:solidFill>
                  <a:srgbClr val="A5D6A7"/>
                </a:solidFill>
                <a:latin typeface="Consolas"/>
              </a:defRPr>
            </a:pPr>
            <a:r>
              <a:rPr sz="700" dirty="0"/>
              <a:t>END FUNCTION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4937760"/>
            <a:ext cx="3931920" cy="178308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0" y="4937760"/>
            <a:ext cx="3931920" cy="457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0" y="504748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Segoe UI"/>
              </a:defRPr>
            </a:pPr>
            <a:r>
              <a:t>Lưu trữ dữ liệu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5394960"/>
            <a:ext cx="3566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212121"/>
                </a:solidFill>
                <a:latin typeface="Segoe UI"/>
              </a:defRPr>
            </a:pPr>
            <a:r>
              <a:t>• LocalStorage: JSON Serialization/Deserialization</a:t>
            </a:r>
          </a:p>
          <a:p>
            <a:pPr>
              <a:spcAft>
                <a:spcPts val="200"/>
              </a:spcAft>
              <a:defRPr sz="1200">
                <a:solidFill>
                  <a:srgbClr val="212121"/>
                </a:solidFill>
                <a:latin typeface="Segoe UI"/>
              </a:defRPr>
            </a:pPr>
            <a:r>
              <a:t>• Lưu: Object → JSON.stringify() → Storage</a:t>
            </a:r>
          </a:p>
          <a:p>
            <a:pPr>
              <a:spcAft>
                <a:spcPts val="200"/>
              </a:spcAft>
              <a:defRPr sz="1200">
                <a:solidFill>
                  <a:srgbClr val="212121"/>
                </a:solidFill>
                <a:latin typeface="Segoe UI"/>
              </a:defRPr>
            </a:pPr>
            <a:r>
              <a:t>• Tải: Storage → JSON.parse() → Object</a:t>
            </a:r>
          </a:p>
          <a:p>
            <a:pPr>
              <a:spcAft>
                <a:spcPts val="200"/>
              </a:spcAft>
              <a:defRPr sz="1200">
                <a:solidFill>
                  <a:srgbClr val="212121"/>
                </a:solidFill>
                <a:latin typeface="Segoe UI"/>
              </a:defRPr>
            </a:pPr>
            <a:r>
              <a:t>• Độ phức tạp: O(n) cho cả lưu và tải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10. KẾT LUẬN &amp; HƯỚNG PHÁT TRIỂN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49C7"/>
                </a:solidFill>
                <a:latin typeface="Segoe UI"/>
              </a:defRPr>
            </a:pPr>
            <a:r>
              <a:t>✅ Kết quả đạt được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2286000" cy="36576"/>
          </a:xfrm>
          <a:prstGeom prst="rect">
            <a:avLst/>
          </a:prstGeom>
          <a:solidFill>
            <a:srgbClr val="304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86400" cy="292608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5486400" cy="457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8928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Segoe UI"/>
              </a:defRPr>
            </a:pPr>
            <a:r>
              <a:t>Về lý thuyết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Segoe UI"/>
              </a:defRPr>
            </a:pPr>
            <a:r>
              <a:t>• Hiểu rõ cấu trúc dữ liệu Mảng động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Segoe UI"/>
              </a:defRPr>
            </a:pPr>
            <a:r>
              <a:t>• Nắm vững chiến lược Doubling Strategy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Segoe UI"/>
              </a:defRPr>
            </a:pPr>
            <a:r>
              <a:t>• Phân tích chi phí khấu hao (Amortized Analysis)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Segoe UI"/>
              </a:defRPr>
            </a:pPr>
            <a:r>
              <a:t>• Đánh giá đúng độ phức tạp các thuật toán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Segoe UI"/>
              </a:defRPr>
            </a:pPr>
            <a:r>
              <a:t>• So sánh ưu/nhược với mảng tĩnh &amp; DSLK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Segoe UI"/>
              </a:defRPr>
            </a:pPr>
            <a:r>
              <a:t>• Hiểu nguyên lý TimSort trong JavaScript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83080"/>
            <a:ext cx="5303520" cy="292608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5303520" cy="45720"/>
          </a:xfrm>
          <a:prstGeom prst="rect">
            <a:avLst/>
          </a:prstGeom>
          <a:solidFill>
            <a:srgbClr val="304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89280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049C7"/>
                </a:solidFill>
                <a:latin typeface="Segoe UI"/>
              </a:defRPr>
            </a:pPr>
            <a:r>
              <a:t>Về thực hành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4028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Segoe UI"/>
              </a:defRPr>
            </a:pPr>
            <a:r>
              <a:t>• Xây dựng hoàn chỉnh hệ thống CRUD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Segoe UI"/>
              </a:defRPr>
            </a:pPr>
            <a:r>
              <a:t>• Triển khai Mảng động từ đầu (class MangDong)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Segoe UI"/>
              </a:defRPr>
            </a:pPr>
            <a:r>
              <a:t>• Giao diện đồ họa web responsive, hiện đại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Segoe UI"/>
              </a:defRPr>
            </a:pPr>
            <a:r>
              <a:t>• Kiến trúc MVC rõ ràng, dễ bảo trì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Segoe UI"/>
              </a:defRPr>
            </a:pPr>
            <a:r>
              <a:t>• Hỗ trợ: tìm kiếm, sắp xếp, lọc, phân trang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Segoe UI"/>
              </a:defRPr>
            </a:pPr>
            <a:r>
              <a:t>• Xuất dữ liệu Excel, lưu trữ LocalStorage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49C7"/>
                </a:solidFill>
                <a:latin typeface="Segoe UI"/>
              </a:defRPr>
            </a:pPr>
            <a:r>
              <a:t>🚀 Hướng phát triển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349240"/>
            <a:ext cx="2286000" cy="36576"/>
          </a:xfrm>
          <a:prstGeom prst="rect">
            <a:avLst/>
          </a:prstGeom>
          <a:solidFill>
            <a:srgbClr val="304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640" y="5440680"/>
            <a:ext cx="2103120" cy="123444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5440680"/>
            <a:ext cx="2103120" cy="4572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55321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237E"/>
                </a:solidFill>
                <a:latin typeface="Segoe UI"/>
              </a:defRPr>
            </a:pPr>
            <a:r>
              <a:t>Tìm kiếm nhị phân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0644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  <a:latin typeface="Segoe UI"/>
              </a:defRPr>
            </a:pPr>
            <a:r>
              <a:t>Thêm index sắp xếp</a:t>
            </a:r>
            <a:br/>
            <a:r>
              <a:t>cho tìm kiếm O(log 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5440680"/>
            <a:ext cx="2103120" cy="123444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834640" y="5440680"/>
            <a:ext cx="2103120" cy="45720"/>
          </a:xfrm>
          <a:prstGeom prst="rect">
            <a:avLst/>
          </a:prstGeom>
          <a:solidFill>
            <a:srgbClr val="304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26080" y="55321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049C7"/>
                </a:solidFill>
                <a:latin typeface="Segoe UI"/>
              </a:defRPr>
            </a:pPr>
            <a:r>
              <a:t>Backend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580644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  <a:latin typeface="Segoe UI"/>
              </a:defRPr>
            </a:pPr>
            <a:r>
              <a:t>Kết nối CSDL thực</a:t>
            </a:r>
            <a:br/>
            <a:r>
              <a:t>(MySQL, MongoDB)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20640" y="5440680"/>
            <a:ext cx="2103120" cy="123444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120640" y="5440680"/>
            <a:ext cx="2103120" cy="4572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12080" y="55321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A1B9A"/>
                </a:solidFill>
                <a:latin typeface="Segoe UI"/>
              </a:defRPr>
            </a:pPr>
            <a:r>
              <a:t>Bảng băm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580644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  <a:latin typeface="Segoe UI"/>
              </a:defRPr>
            </a:pPr>
            <a:r>
              <a:t>Hash Table cho tra cứu</a:t>
            </a:r>
            <a:br/>
            <a:r>
              <a:t>mã SV nhanh O(1)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6640" y="5440680"/>
            <a:ext cx="2103120" cy="123444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406640" y="5440680"/>
            <a:ext cx="2103120" cy="4572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98080" y="55321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695C"/>
                </a:solidFill>
                <a:latin typeface="Segoe UI"/>
              </a:defRPr>
            </a:pPr>
            <a:r>
              <a:t>Đồ thị thống kê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0" y="580644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  <a:latin typeface="Segoe UI"/>
              </a:defRPr>
            </a:pPr>
            <a:r>
              <a:t>Chart.js để trực quan</a:t>
            </a:r>
            <a:br/>
            <a:r>
              <a:t>hóa dữ liệu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92640" y="5440680"/>
            <a:ext cx="2103120" cy="123444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692640" y="5440680"/>
            <a:ext cx="2103120" cy="45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84080" y="55321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62828"/>
                </a:solidFill>
                <a:latin typeface="Segoe UI"/>
              </a:defRPr>
            </a:pPr>
            <a:r>
              <a:t>Xác thực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580644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  <a:latin typeface="Segoe UI"/>
              </a:defRPr>
            </a:pPr>
            <a:r>
              <a:t>Đăng nhập, phân quyền</a:t>
            </a:r>
            <a:br/>
            <a:r>
              <a:t>người dùng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09. BẢNG TỔNG HỢP ĐỘ PHỨC TẠP THUẬT TOÁN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133856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Thuật toán / Thao tác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Tốt nhất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Trung bình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Xấu nhất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Không gian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Thêm phần tử (them)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O(1)*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Xóa phần tử (xoaTaiViTri)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O(1)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O(1)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Truy cập (layGiaTri)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Cập nhật (ganGiaTri)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O(1)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O(1)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O(1)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O(1)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Tìm kiếm tuyến tính (timViTri)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Tìm kiếm sinh viên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O(k)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Sắp xếp TimSort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 log 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 log 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Lọc dữ liệu (loc)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O(k)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Thay đổi kích thước (resize)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Thống kê (điểm TB)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O(1)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Danh sách lớp duy nhất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Phân trang (slice)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O(k)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O(k)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O(k)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O(k)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Xếp loại học lực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Lưu/Tải localStorage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Segoe UI"/>
              </a:defRPr>
            </a:pPr>
            <a:r>
              <a:t>* Chi phí khấu hao (Amortized) — k là số kết quả trả về, n là tổng số phần tử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0" y="-914400"/>
            <a:ext cx="5486400" cy="2743200"/>
          </a:xfrm>
          <a:prstGeom prst="roundRect">
            <a:avLst/>
          </a:prstGeom>
          <a:solidFill>
            <a:srgbClr val="283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29600" y="5029200"/>
            <a:ext cx="5029200" cy="2743200"/>
          </a:xfrm>
          <a:prstGeom prst="roundRect">
            <a:avLst/>
          </a:prstGeom>
          <a:solidFill>
            <a:srgbClr val="283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18288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CẢM ƠN THẦY VÀ CÁC BẠN</a:t>
            </a:r>
            <a:br/>
            <a:r>
              <a:t>ĐÃ LẮNG NGHE!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246120"/>
            <a:ext cx="2286000" cy="54864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DEFB"/>
                </a:solidFill>
                <a:latin typeface="Segoe UI"/>
              </a:defRPr>
            </a:pPr>
            <a:r>
              <a:t>GVHD: TS. Nghiêm Văn Tính</a:t>
            </a:r>
            <a:br/>
            <a:r>
              <a:t>SVTH: Đặng Đình Đạt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0CAF9"/>
                </a:solidFill>
                <a:latin typeface="Segoe UI"/>
              </a:defRPr>
            </a:pPr>
            <a:r>
              <a:t>Môn: Kỹ thuật Lập trình Nâng cao  |  Năm học 2025 - 2026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4864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6F00"/>
                </a:solidFill>
                <a:latin typeface="Segoe UI"/>
              </a:defRPr>
            </a:pPr>
            <a:r>
              <a:t>❓ Câu hỏi &amp; Thảo luận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3660</Words>
  <Application>Microsoft Office PowerPoint</Application>
  <PresentationFormat>Widescreen</PresentationFormat>
  <Paragraphs>567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Đinh Đạt</cp:lastModifiedBy>
  <cp:revision>2</cp:revision>
  <dcterms:created xsi:type="dcterms:W3CDTF">2013-01-27T09:14:16Z</dcterms:created>
  <dcterms:modified xsi:type="dcterms:W3CDTF">2026-02-25T01:11:25Z</dcterms:modified>
  <cp:category/>
</cp:coreProperties>
</file>